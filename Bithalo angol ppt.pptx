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0333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005840"/>
            <a:ext cx="5029200" cy="256032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91440" cy="25603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TECHBOLT KFT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Infrastructure Project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 Presentation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2286000" cy="2286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6177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Váradi Levente  &amp;  Nagy Dániel   •   Apáczai Csere </a:t>
            </a:r>
            <a:r>
              <a:rPr lang="en-US" sz="1100" dirty="0" err="1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János</a:t>
            </a: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Szakgimnázium</a:t>
            </a: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Dombóvár  •  2024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373075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TEAM MEMBER INTRODUCTION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3474720"/>
          </a:xfrm>
          <a:prstGeom prst="rect">
            <a:avLst/>
          </a:prstGeom>
          <a:solidFill>
            <a:srgbClr val="242A4A"/>
          </a:solidFill>
          <a:ln w="12700">
            <a:solidFill>
              <a:srgbClr val="4F8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93192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515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0058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Váradi Levente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 •  Infrastructure Specialist  •  Network Architect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2423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26974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configuration
</a:t>
            </a: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 configuration
</a:t>
            </a: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&amp; ACL rules
</a:t>
            </a: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coordination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46320" y="914400"/>
            <a:ext cx="3931920" cy="3474720"/>
          </a:xfrm>
          <a:prstGeom prst="rect">
            <a:avLst/>
          </a:prstGeom>
          <a:solidFill>
            <a:srgbClr val="242A4A"/>
          </a:solidFill>
          <a:ln w="12700">
            <a:solidFill>
              <a:srgbClr val="4F8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914400"/>
            <a:ext cx="393192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05156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15000" y="10058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Nagy Dániel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02920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02920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 •  Tester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29200" y="2423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029200" y="26974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configuration
</a:t>
            </a: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writing
</a:t>
            </a: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plan
</a:t>
            </a: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48640" y="45537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TECHBOLT KFT – THE CHOSEN COMPANY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840480" cy="3657600"/>
          </a:xfrm>
          <a:prstGeom prst="rect">
            <a:avLst/>
          </a:prstGeom>
          <a:solidFill>
            <a:srgbClr val="242A4A"/>
          </a:solidFill>
          <a:ln w="12700">
            <a:solidFill>
              <a:srgbClr val="4F8EF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463040"/>
            <a:ext cx="2194560" cy="2194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0" y="960120"/>
            <a:ext cx="411480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960120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9160" y="1005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Headquarters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09160" y="1234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Budapest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0" y="1645920"/>
            <a:ext cx="411480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1645920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Employees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09160" y="1920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staff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0" y="2331720"/>
            <a:ext cx="411480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0" y="2331720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9160" y="2377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Departments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09160" y="2606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different departments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0" y="3017520"/>
            <a:ext cx="411480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0" y="3017520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09160" y="3063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Activity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09160" y="3291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consulting, electronics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0" y="3703320"/>
            <a:ext cx="411480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0" y="3703320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09160" y="3749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Service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709160" y="3977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customer support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72000" y="4480560"/>
            <a:ext cx="4114800" cy="502920"/>
          </a:xfrm>
          <a:prstGeom prst="rect">
            <a:avLst/>
          </a:prstGeom>
          <a:solidFill>
            <a:srgbClr val="0D3B6E"/>
          </a:solidFill>
          <a:ln w="12700">
            <a:solidFill>
              <a:srgbClr val="7CB3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63440" y="4526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Real market need + 7 departments = a complex yet educational project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PACKET TRACER – NETWORK TOPOLOGY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389120" y="914400"/>
            <a:ext cx="4389120" cy="3657600"/>
          </a:xfrm>
          <a:prstGeom prst="rect">
            <a:avLst/>
          </a:prstGeom>
          <a:solidFill>
            <a:srgbClr val="242A4A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480560" y="42062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</a:t>
            </a:r>
            <a:r>
              <a:rPr lang="en-US" sz="1000" i="1" dirty="0" err="1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Tacer</a:t>
            </a:r>
            <a:r>
              <a:rPr lang="en-US" sz="1000" i="1" dirty="0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topológia</a:t>
            </a:r>
            <a:r>
              <a:rPr lang="en-US" sz="1000" i="1" dirty="0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screenshot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960120"/>
            <a:ext cx="3749040" cy="731520"/>
          </a:xfrm>
          <a:prstGeom prst="rect">
            <a:avLst/>
          </a:prstGeom>
          <a:solidFill>
            <a:srgbClr val="242A4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960120"/>
            <a:ext cx="91440" cy="731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0058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CORE layer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13075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 Cisco 2911 routers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1783080"/>
            <a:ext cx="3749040" cy="731520"/>
          </a:xfrm>
          <a:prstGeom prst="rect">
            <a:avLst/>
          </a:prstGeom>
          <a:solidFill>
            <a:srgbClr val="242A4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1783080"/>
            <a:ext cx="9144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18288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DISTRIBUTION layer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21305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7x Cisco 2960-24TT switches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5760" y="2606040"/>
            <a:ext cx="3749040" cy="731520"/>
          </a:xfrm>
          <a:prstGeom prst="rect">
            <a:avLst/>
          </a:prstGeom>
          <a:solidFill>
            <a:srgbClr val="24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" y="2606040"/>
            <a:ext cx="91440" cy="731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6517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ACCESS layer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29535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end devices (PCs, servers, printers)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5760" y="3474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DEPARTMENTS: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65760" y="37490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Office  •  HR  •  Finance  •  Customer Support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 •  Warehouse  •  Server Room</a:t>
            </a:r>
            <a:endParaRPr lang="en-US" sz="1100" dirty="0"/>
          </a:p>
        </p:txBody>
      </p:sp>
      <p:pic>
        <p:nvPicPr>
          <p:cNvPr id="23" name="Kép 22">
            <a:extLst>
              <a:ext uri="{FF2B5EF4-FFF2-40B4-BE49-F238E27FC236}">
                <a16:creationId xmlns:a16="http://schemas.microsoft.com/office/drawing/2014/main" id="{446E555A-FA14-40C4-9EFF-C44750DBD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14203"/>
            <a:ext cx="3987602" cy="1891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SECURITY PROTOCOLS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3566160"/>
          </a:xfrm>
          <a:prstGeom prst="rect">
            <a:avLst/>
          </a:prstGeom>
          <a:solidFill>
            <a:srgbClr val="242A4A"/>
          </a:solidFill>
          <a:ln w="19050">
            <a:solidFill>
              <a:srgbClr val="4F8EF7"/>
            </a:solidFill>
            <a:prstDash val="solid"/>
          </a:ln>
          <a:effectLst>
            <a:outerShdw blurRad="1905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93192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515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0241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– Cisco ASA 5506-X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19385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inbound and outbound traffic, blocking malicious content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2468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7157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inspection – tracks every connection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3246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34930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zone  •  NAT  •  Port forwarding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46320" y="914400"/>
            <a:ext cx="3931920" cy="3566160"/>
          </a:xfrm>
          <a:prstGeom prst="rect">
            <a:avLst/>
          </a:prstGeom>
          <a:solidFill>
            <a:srgbClr val="242A4A"/>
          </a:solidFill>
          <a:ln w="19050">
            <a:solidFill>
              <a:srgbClr val="F59E0B"/>
            </a:solidFill>
            <a:prstDash val="solid"/>
          </a:ln>
          <a:effectLst>
            <a:outerShdw blurRad="1905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46320" y="914400"/>
            <a:ext cx="3931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05156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715000" y="10241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– Virtual Private Network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02920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029200" y="19385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Biztonságos távoli kapcsolat a vállalati hálózathoz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029200" y="2468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029200" y="27157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Site-to-site VPN (branch offices)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VPN (remote workers)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029200" y="3246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Encryption: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029200" y="34930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 protocol  •  AES-256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48640" y="4608576"/>
            <a:ext cx="8046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NETWORK PROTOCOLS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1737360"/>
          </a:xfrm>
          <a:prstGeom prst="rect">
            <a:avLst/>
          </a:prstGeom>
          <a:solidFill>
            <a:srgbClr val="242A4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73152" cy="1737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OSPF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Shortest Path First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routing – automatically finds the shortest path. If a link goes down, a new route is found instantly!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114800" cy="1737360"/>
          </a:xfrm>
          <a:prstGeom prst="rect">
            <a:avLst/>
          </a:prstGeom>
          <a:solidFill>
            <a:srgbClr val="24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914400"/>
            <a:ext cx="73152" cy="1737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05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 VLAN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LAN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 – 1 physical network split into multiple virtual segments. Security ↑  •  Performance 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4114800" cy="1737360"/>
          </a:xfrm>
          <a:prstGeom prst="rect">
            <a:avLst/>
          </a:prstGeom>
          <a:solidFill>
            <a:srgbClr val="242A4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34640"/>
            <a:ext cx="73152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260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DHCP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Host Config Protocol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6118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IP assignment – the server assigns the IP, subnet mask, gateway, and DNS.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4114800" cy="1737360"/>
          </a:xfrm>
          <a:prstGeom prst="rect">
            <a:avLst/>
          </a:prstGeom>
          <a:solidFill>
            <a:srgbClr val="242A4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834640"/>
            <a:ext cx="73152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9260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ACL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937760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List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6118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rules – who can access what. E.g., HR can only access payroll!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64515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SCRUM METHODOLOGY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286000" cy="1097280"/>
          </a:xfrm>
          <a:prstGeom prst="rect">
            <a:avLst/>
          </a:prstGeom>
          <a:solidFill>
            <a:srgbClr val="242A4A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sprints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2286000" cy="1097280"/>
          </a:xfrm>
          <a:prstGeom prst="rect">
            <a:avLst/>
          </a:prstGeom>
          <a:solidFill>
            <a:srgbClr val="242A4A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86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6576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sprints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2286000" cy="1097280"/>
          </a:xfrm>
          <a:prstGeom prst="rect">
            <a:avLst/>
          </a:prstGeom>
          <a:solidFill>
            <a:srgbClr val="242A4A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520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6576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stand-up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960120"/>
            <a:ext cx="5852160" cy="77724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960120"/>
            <a:ext cx="73152" cy="7772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10332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Sprint Planning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13624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weekly tasks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0" y="1874520"/>
            <a:ext cx="5852160" cy="77724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0" y="1874520"/>
            <a:ext cx="73152" cy="7772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19476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Daily Stand-up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8960" y="22768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15-minute sync on Discord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26080" y="2788920"/>
            <a:ext cx="5852160" cy="77724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2788920"/>
            <a:ext cx="73152" cy="7772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2862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Sprint Review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108960" y="31912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weekly results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26080" y="3703320"/>
            <a:ext cx="5852160" cy="77724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0" y="3703320"/>
            <a:ext cx="73152" cy="7772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37764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Retrospective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108960" y="4105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we do well? What should we improve?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08960" y="46908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JIRA – PROJECT MANAGEMENT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920240" cy="411480"/>
          </a:xfrm>
          <a:prstGeom prst="rect">
            <a:avLst/>
          </a:prstGeom>
          <a:solidFill>
            <a:srgbClr val="C8D4F0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1828800" cy="457200"/>
          </a:xfrm>
          <a:prstGeom prst="rect">
            <a:avLst/>
          </a:prstGeom>
          <a:solidFill>
            <a:srgbClr val="242A4A"/>
          </a:solidFill>
          <a:ln w="6350">
            <a:solidFill>
              <a:srgbClr val="C8D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1828800" cy="457200"/>
          </a:xfrm>
          <a:prstGeom prst="rect">
            <a:avLst/>
          </a:prstGeom>
          <a:solidFill>
            <a:srgbClr val="242A4A"/>
          </a:solidFill>
          <a:ln w="6350">
            <a:solidFill>
              <a:srgbClr val="C8D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560320"/>
            <a:ext cx="1828800" cy="457200"/>
          </a:xfrm>
          <a:prstGeom prst="rect">
            <a:avLst/>
          </a:prstGeom>
          <a:solidFill>
            <a:srgbClr val="242A4A"/>
          </a:solidFill>
          <a:ln w="6350">
            <a:solidFill>
              <a:srgbClr val="C8D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06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960120"/>
            <a:ext cx="1920240" cy="4114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9875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14600" y="1463040"/>
            <a:ext cx="1828800" cy="457200"/>
          </a:xfrm>
          <a:prstGeom prst="rect">
            <a:avLst/>
          </a:prstGeom>
          <a:solidFill>
            <a:srgbClr val="242A4A"/>
          </a:solidFill>
          <a:ln w="635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5087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14600" y="2011680"/>
            <a:ext cx="1828800" cy="457200"/>
          </a:xfrm>
          <a:prstGeom prst="rect">
            <a:avLst/>
          </a:prstGeom>
          <a:solidFill>
            <a:srgbClr val="242A4A"/>
          </a:solidFill>
          <a:ln w="635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20574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14600" y="2560320"/>
            <a:ext cx="1828800" cy="457200"/>
          </a:xfrm>
          <a:prstGeom prst="rect">
            <a:avLst/>
          </a:prstGeom>
          <a:solidFill>
            <a:srgbClr val="242A4A"/>
          </a:solidFill>
          <a:ln w="635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2606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960120"/>
            <a:ext cx="192024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9875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1463040"/>
            <a:ext cx="1828800" cy="457200"/>
          </a:xfrm>
          <a:prstGeom prst="rect">
            <a:avLst/>
          </a:prstGeom>
          <a:solidFill>
            <a:srgbClr val="242A4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5087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011680"/>
            <a:ext cx="1828800" cy="457200"/>
          </a:xfrm>
          <a:prstGeom prst="rect">
            <a:avLst/>
          </a:prstGeom>
          <a:solidFill>
            <a:srgbClr val="242A4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0574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2560320"/>
            <a:ext cx="1828800" cy="457200"/>
          </a:xfrm>
          <a:prstGeom prst="rect">
            <a:avLst/>
          </a:prstGeom>
          <a:solidFill>
            <a:srgbClr val="242A4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606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960120"/>
            <a:ext cx="192024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9875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✅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20840" y="1463040"/>
            <a:ext cx="1828800" cy="457200"/>
          </a:xfrm>
          <a:prstGeom prst="rect">
            <a:avLst/>
          </a:prstGeom>
          <a:solidFill>
            <a:srgbClr val="242A4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15087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Task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20840" y="2011680"/>
            <a:ext cx="1828800" cy="457200"/>
          </a:xfrm>
          <a:prstGeom prst="rect">
            <a:avLst/>
          </a:prstGeom>
          <a:solidFill>
            <a:srgbClr val="242A4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20574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Task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20840" y="2560320"/>
            <a:ext cx="1828800" cy="457200"/>
          </a:xfrm>
          <a:prstGeom prst="rect">
            <a:avLst/>
          </a:prstGeom>
          <a:solidFill>
            <a:srgbClr val="242A4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2606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Task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3337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" y="3657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37560" y="3337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337560" y="3657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72200" y="3337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172200" y="3657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" y="44622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49" name="Kép 48">
            <a:extLst>
              <a:ext uri="{FF2B5EF4-FFF2-40B4-BE49-F238E27FC236}">
                <a16:creationId xmlns:a16="http://schemas.microsoft.com/office/drawing/2014/main" id="{4E1A70A1-F4B0-489D-8A55-772A4FFCA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253" y="3255264"/>
            <a:ext cx="3288453" cy="15720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GIT &amp; GITHUB – VERSION CONTROL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840480" cy="3474720"/>
          </a:xfrm>
          <a:prstGeom prst="rect">
            <a:avLst/>
          </a:prstGeom>
          <a:solidFill>
            <a:srgbClr val="242A4A"/>
          </a:solidFill>
          <a:ln w="12700">
            <a:solidFill>
              <a:srgbClr val="4F8EF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55448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0" y="960120"/>
            <a:ext cx="4114800" cy="804672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960120"/>
            <a:ext cx="73152" cy="8046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0" y="10332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Branch strategy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754880" y="13807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+ feature branches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0" y="1874520"/>
            <a:ext cx="4114800" cy="804672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1874520"/>
            <a:ext cx="73152" cy="8046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19476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Commit convention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754880" y="22951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commit messages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0" y="2788920"/>
            <a:ext cx="4114800" cy="804672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0" y="2788920"/>
            <a:ext cx="73152" cy="8046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2862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Pull Request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754880" y="32095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before every merge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0" y="3749040"/>
            <a:ext cx="4114800" cy="685800"/>
          </a:xfrm>
          <a:prstGeom prst="rect">
            <a:avLst/>
          </a:prstGeom>
          <a:solidFill>
            <a:srgbClr val="0D3B6E"/>
          </a:solidFill>
          <a:ln w="12700">
            <a:solidFill>
              <a:srgbClr val="7CB3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09160" y="3794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Stored content: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09160" y="4069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.pkt files  •  Configurations  •  Documentation  •  Tests  • 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TESTING PROCESS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286000" cy="2286000"/>
          </a:xfrm>
          <a:prstGeom prst="rect">
            <a:avLst/>
          </a:prstGeom>
          <a:solidFill>
            <a:srgbClr val="24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✅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926080" y="960120"/>
            <a:ext cx="301752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0241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Unit test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3240" y="128930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device functionality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1645920"/>
            <a:ext cx="301752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709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🔸  Integration test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63240" y="197510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Inter-department communication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2331720"/>
            <a:ext cx="301752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2395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 System test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63240" y="266090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network operation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3017520"/>
            <a:ext cx="301752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3081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Security test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63240" y="334670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rules, firewall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960120"/>
            <a:ext cx="2560320" cy="274320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1463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193852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241401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288950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30" name="Kép 29">
            <a:extLst>
              <a:ext uri="{FF2B5EF4-FFF2-40B4-BE49-F238E27FC236}">
                <a16:creationId xmlns:a16="http://schemas.microsoft.com/office/drawing/2014/main" id="{1CAD7F62-A885-423E-81F7-2DA1A0DE4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79" y="978408"/>
            <a:ext cx="2582333" cy="27249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PROJECT STATISTICS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Time distribution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475488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1645920" cy="475488"/>
          </a:xfrm>
          <a:prstGeom prst="rect">
            <a:avLst/>
          </a:prstGeom>
          <a:solidFill>
            <a:srgbClr val="4F8EF7">
              <a:alpha val="80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 Implementation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38528"/>
            <a:ext cx="4114800" cy="475488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38528"/>
            <a:ext cx="1234440" cy="475488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29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 Planning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05456"/>
            <a:ext cx="4114800" cy="475488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505456"/>
            <a:ext cx="822960" cy="47548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968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 Testing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072384"/>
            <a:ext cx="4114800" cy="475488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072384"/>
            <a:ext cx="411480" cy="475488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638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 Documentation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Device distribution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1920240" cy="1097280"/>
          </a:xfrm>
          <a:prstGeom prst="rect">
            <a:avLst/>
          </a:prstGeom>
          <a:solidFill>
            <a:srgbClr val="242A4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5488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  –  45 units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1371600"/>
            <a:ext cx="1920240" cy="1097280"/>
          </a:xfrm>
          <a:prstGeom prst="rect">
            <a:avLst/>
          </a:prstGeom>
          <a:solidFill>
            <a:srgbClr val="24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5800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 –  7 units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651760"/>
            <a:ext cx="1920240" cy="1097280"/>
          </a:xfrm>
          <a:prstGeom prst="rect">
            <a:avLst/>
          </a:prstGeom>
          <a:solidFill>
            <a:srgbClr val="242A4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743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75488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 –  6 units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2651760"/>
            <a:ext cx="1920240" cy="1097280"/>
          </a:xfrm>
          <a:prstGeom prst="rect">
            <a:avLst/>
          </a:prstGeom>
          <a:solidFill>
            <a:srgbClr val="242A4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2743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85800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 –  3 units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53542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280160"/>
          </a:xfrm>
          <a:prstGeom prst="rect">
            <a:avLst/>
          </a:prstGeom>
          <a:solidFill>
            <a:srgbClr val="242A4A"/>
          </a:solidFill>
          <a:ln w="19050">
            <a:solidFill>
              <a:srgbClr val="4F8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618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Modern network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7556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devices, 3-tier architecture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1280160"/>
          </a:xfrm>
          <a:prstGeom prst="rect">
            <a:avLst/>
          </a:prstGeom>
          <a:solidFill>
            <a:srgbClr val="242A4A"/>
          </a:solidFill>
          <a:ln w="19050">
            <a:solidFill>
              <a:srgbClr val="4F8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402336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2618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Agile methodology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7556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sprints, Scrum + Jira + GitHub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4023360" cy="1280160"/>
          </a:xfrm>
          <a:prstGeom prst="rect">
            <a:avLst/>
          </a:prstGeom>
          <a:solidFill>
            <a:srgbClr val="242A4A"/>
          </a:solidFill>
          <a:ln w="19050">
            <a:solidFill>
              <a:srgbClr val="4F8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60320"/>
            <a:ext cx="402336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249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100% testing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2186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test cases, full coverage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560320"/>
            <a:ext cx="4023360" cy="1280160"/>
          </a:xfrm>
          <a:prstGeom prst="rect">
            <a:avLst/>
          </a:prstGeom>
          <a:solidFill>
            <a:srgbClr val="242A4A"/>
          </a:solidFill>
          <a:ln w="19050">
            <a:solidFill>
              <a:srgbClr val="4F8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560320"/>
            <a:ext cx="402336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7249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Documentation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2186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technical documentation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8412480" cy="822960"/>
          </a:xfrm>
          <a:prstGeom prst="rect">
            <a:avLst/>
          </a:prstGeom>
          <a:solidFill>
            <a:srgbClr val="2C356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169664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 Thank you for your attention!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Váradi Levente  &amp;  Nagy Dániel   •   Apáczai Csere János Vocational School  •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625</Words>
  <Application>Microsoft Office PowerPoint</Application>
  <PresentationFormat>Diavetítés a képernyőre (16:9 oldalarány)</PresentationFormat>
  <Paragraphs>158</Paragraphs>
  <Slides>12</Slides>
  <Notes>12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TechBolt Kft - Vizsgaremek</dc:title>
  <dc:subject>PptxGenJS Presentation</dc:subject>
  <dc:creator>PptxGenJS</dc:creator>
  <cp:lastModifiedBy>Dániel Nagy</cp:lastModifiedBy>
  <cp:revision>7</cp:revision>
  <dcterms:created xsi:type="dcterms:W3CDTF">2026-02-23T09:29:10Z</dcterms:created>
  <dcterms:modified xsi:type="dcterms:W3CDTF">2026-02-24T08:27:06Z</dcterms:modified>
</cp:coreProperties>
</file>