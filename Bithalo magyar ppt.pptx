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70" r:id="rId7"/>
    <p:sldId id="269" r:id="rId8"/>
    <p:sldId id="261" r:id="rId9"/>
    <p:sldId id="263" r:id="rId10"/>
    <p:sldId id="266" r:id="rId11"/>
    <p:sldId id="264" r:id="rId12"/>
    <p:sldId id="262" r:id="rId13"/>
    <p:sldId id="265" r:id="rId14"/>
    <p:sldId id="267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A1F35"/>
    <a:srgbClr val="242A4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86759" autoAdjust="0"/>
  </p:normalViewPr>
  <p:slideViewPr>
    <p:cSldViewPr snapToGrid="0" snapToObjects="1">
      <p:cViewPr varScale="1">
        <p:scale>
          <a:sx n="98" d="100"/>
          <a:sy n="98" d="100"/>
        </p:scale>
        <p:origin x="101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803332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kurva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 err="1"/>
              <a:t>uohuiuh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31009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563985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F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005840"/>
            <a:ext cx="5029200" cy="2560320"/>
          </a:xfrm>
          <a:prstGeom prst="rect">
            <a:avLst/>
          </a:prstGeom>
          <a:solidFill>
            <a:srgbClr val="2C3566"/>
          </a:solidFill>
          <a:ln w="12700">
            <a:solidFill>
              <a:srgbClr val="2C3566"/>
            </a:solidFill>
            <a:prstDash val="solid"/>
          </a:ln>
          <a:effectLst>
            <a:outerShdw blurRad="254000" dist="50800" dir="8100000" algn="bl" rotWithShape="0">
              <a:srgbClr val="000000">
                <a:alpha val="4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05840"/>
            <a:ext cx="91440" cy="2560320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188720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400" dirty="0">
                <a:solidFill>
                  <a:srgbClr val="7CB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TECHBOLT KFT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85800" y="1783080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Hálózati Infrastruktúra Projekt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685800" y="242316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8D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Vizsgaremek Bemutató</a:t>
            </a:r>
            <a:endParaRPr lang="en-US" sz="18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188720"/>
            <a:ext cx="2286000" cy="22860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0" y="4572000"/>
            <a:ext cx="9144000" cy="571500"/>
          </a:xfrm>
          <a:prstGeom prst="rect">
            <a:avLst/>
          </a:prstGeom>
          <a:solidFill>
            <a:srgbClr val="2C3566"/>
          </a:solidFill>
          <a:ln w="12700">
            <a:solidFill>
              <a:srgbClr val="2C356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274320" y="461772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8D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Váradi Levente  &amp;  Nagy Dániel   •   Apáczai Csere János Szakgimnázium  •  Dombóvár  •  2024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48640" y="3730752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F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2C3566"/>
          </a:solidFill>
          <a:ln w="12700">
            <a:solidFill>
              <a:srgbClr val="2C356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👥  CSAPATTAGOK BEMUTATKOZÁSA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65760" y="914400"/>
            <a:ext cx="3931920" cy="3474720"/>
          </a:xfrm>
          <a:prstGeom prst="rect">
            <a:avLst/>
          </a:prstGeom>
          <a:solidFill>
            <a:srgbClr val="242A4A"/>
          </a:solidFill>
          <a:ln w="12700">
            <a:solidFill>
              <a:srgbClr val="4F8EF7"/>
            </a:solidFill>
            <a:prstDash val="solid"/>
          </a:ln>
          <a:effectLst>
            <a:outerShdw blurRad="1524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 dirty="0"/>
          </a:p>
        </p:txBody>
      </p:sp>
      <p:sp>
        <p:nvSpPr>
          <p:cNvPr id="6" name="Shape 4"/>
          <p:cNvSpPr/>
          <p:nvPr/>
        </p:nvSpPr>
        <p:spPr>
          <a:xfrm>
            <a:off x="365760" y="914400"/>
            <a:ext cx="3931920" cy="73152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051560"/>
            <a:ext cx="502920" cy="5029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34440" y="100584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Váradi Levente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548640" y="164592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CB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Szerepkör: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548640" y="192024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 err="1">
                <a:solidFill>
                  <a:srgbClr val="C8D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Infrastruktúra</a:t>
            </a:r>
            <a:r>
              <a:rPr lang="en-US" sz="1100" dirty="0">
                <a:solidFill>
                  <a:srgbClr val="C8D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Specialista  •  Hálózati Architekt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48640" y="242316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CB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Feladatok: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440267" y="2834640"/>
            <a:ext cx="35661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</a:t>
            </a:r>
            <a:r>
              <a:rPr lang="en-US" sz="1200" dirty="0">
                <a:solidFill>
                  <a:srgbClr val="C8D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Router konfiguráció
</a:t>
            </a:r>
            <a:r>
              <a:rPr lang="en-US" sz="12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</a:t>
            </a:r>
            <a:r>
              <a:rPr lang="en-US" sz="1200" dirty="0">
                <a:solidFill>
                  <a:srgbClr val="C8D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OSPF beállítás
</a:t>
            </a:r>
            <a:r>
              <a:rPr lang="en-US" sz="12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</a:t>
            </a:r>
            <a:r>
              <a:rPr lang="en-US" sz="1200" dirty="0">
                <a:solidFill>
                  <a:srgbClr val="C8D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Tűzfal &amp; ACL szabályok
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846320" y="914400"/>
            <a:ext cx="3931920" cy="3474720"/>
          </a:xfrm>
          <a:prstGeom prst="rect">
            <a:avLst/>
          </a:prstGeom>
          <a:solidFill>
            <a:srgbClr val="242A4A"/>
          </a:solidFill>
          <a:ln w="12700">
            <a:solidFill>
              <a:srgbClr val="4F8EF7"/>
            </a:solidFill>
            <a:prstDash val="solid"/>
          </a:ln>
          <a:effectLst>
            <a:outerShdw blurRad="1524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846320" y="914400"/>
            <a:ext cx="3931920" cy="73152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0" y="1051560"/>
            <a:ext cx="502920" cy="50292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5715000" y="100584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Nagy Dániel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5029200" y="164592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CB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Szerepkör: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5029200" y="192024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8D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Manager  •  Tesztelő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5029200" y="242316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CB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Feladatok: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5029200" y="2697480"/>
            <a:ext cx="35661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8D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r>
              <a:rPr lang="en-US" sz="12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</a:t>
            </a:r>
            <a:r>
              <a:rPr lang="en-US" sz="1200" dirty="0">
                <a:solidFill>
                  <a:srgbClr val="C8D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Dokumentáció készítés
</a:t>
            </a:r>
            <a:r>
              <a:rPr lang="en-US" sz="12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</a:t>
            </a:r>
            <a:r>
              <a:rPr lang="en-US" sz="1200" dirty="0">
                <a:solidFill>
                  <a:srgbClr val="C8D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Tesztelési terv
</a:t>
            </a:r>
            <a:r>
              <a:rPr lang="en-US" sz="12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</a:t>
            </a:r>
            <a:r>
              <a:rPr lang="en-US" sz="1200" dirty="0">
                <a:solidFill>
                  <a:srgbClr val="C8D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tervezés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548640" y="4553712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F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2C3566"/>
          </a:solidFill>
          <a:ln w="12700">
            <a:solidFill>
              <a:srgbClr val="2C356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🏢  TECHBOLT KFT – A VÁLASZTOTT VÁLLALAT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65760" y="960120"/>
            <a:ext cx="3840480" cy="3657600"/>
          </a:xfrm>
          <a:prstGeom prst="rect">
            <a:avLst/>
          </a:prstGeom>
          <a:solidFill>
            <a:srgbClr val="242A4A"/>
          </a:solidFill>
          <a:ln w="12700">
            <a:solidFill>
              <a:srgbClr val="4F8EF7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8720" y="1463040"/>
            <a:ext cx="2194560" cy="21945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57200" y="42519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4572000" y="960120"/>
            <a:ext cx="4114800" cy="594360"/>
          </a:xfrm>
          <a:prstGeom prst="rect">
            <a:avLst/>
          </a:prstGeom>
          <a:solidFill>
            <a:srgbClr val="242A4A"/>
          </a:solidFill>
          <a:ln w="12700">
            <a:solidFill>
              <a:srgbClr val="2C356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72000" y="960120"/>
            <a:ext cx="73152" cy="594360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709160" y="100584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CB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📍  Székhely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4709160" y="123444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Budapest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4572000" y="1645920"/>
            <a:ext cx="4114800" cy="594360"/>
          </a:xfrm>
          <a:prstGeom prst="rect">
            <a:avLst/>
          </a:prstGeom>
          <a:solidFill>
            <a:srgbClr val="242A4A"/>
          </a:solidFill>
          <a:ln w="12700">
            <a:solidFill>
              <a:srgbClr val="2C356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572000" y="1645920"/>
            <a:ext cx="73152" cy="594360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709160" y="169164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CB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👥  Alkalmazottak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4709160" y="192024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60+ fő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4572000" y="2331720"/>
            <a:ext cx="4114800" cy="594360"/>
          </a:xfrm>
          <a:prstGeom prst="rect">
            <a:avLst/>
          </a:prstGeom>
          <a:solidFill>
            <a:srgbClr val="242A4A"/>
          </a:solidFill>
          <a:ln w="12700">
            <a:solidFill>
              <a:srgbClr val="2C356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572000" y="2331720"/>
            <a:ext cx="73152" cy="594360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709160" y="237744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CB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🏭  Részlegek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4709160" y="260604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különböző részleg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4572000" y="3017520"/>
            <a:ext cx="4114800" cy="594360"/>
          </a:xfrm>
          <a:prstGeom prst="rect">
            <a:avLst/>
          </a:prstGeom>
          <a:solidFill>
            <a:srgbClr val="242A4A"/>
          </a:solidFill>
          <a:ln w="12700">
            <a:solidFill>
              <a:srgbClr val="2C3566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572000" y="3017520"/>
            <a:ext cx="73152" cy="594360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709160" y="306324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CB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💻  Tevékenység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4709160" y="329184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tanácsadás, elektronika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4572000" y="3703320"/>
            <a:ext cx="4114800" cy="594360"/>
          </a:xfrm>
          <a:prstGeom prst="rect">
            <a:avLst/>
          </a:prstGeom>
          <a:solidFill>
            <a:srgbClr val="242A4A"/>
          </a:solidFill>
          <a:ln w="12700">
            <a:solidFill>
              <a:srgbClr val="2C3566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4572000" y="3703320"/>
            <a:ext cx="73152" cy="594360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709160" y="374904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CB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🕐  Szolgáltatás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4709160" y="397764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24/7 ügyfélszolgálat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4572000" y="4480560"/>
            <a:ext cx="4114800" cy="502920"/>
          </a:xfrm>
          <a:prstGeom prst="rect">
            <a:avLst/>
          </a:prstGeom>
          <a:solidFill>
            <a:srgbClr val="0D3B6E"/>
          </a:solidFill>
          <a:ln w="12700">
            <a:solidFill>
              <a:srgbClr val="7CB3FF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663440" y="452628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7CB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Valós piaci igény + 7 részleg = komplex, de tanulságos projekt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F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2C3566"/>
          </a:solidFill>
          <a:ln w="12700">
            <a:solidFill>
              <a:srgbClr val="2C356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 PACKET TRACER – HÁLÓZATI TOPOLÓGIA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389120" y="914400"/>
            <a:ext cx="4389120" cy="3657600"/>
          </a:xfrm>
          <a:prstGeom prst="rect">
            <a:avLst/>
          </a:prstGeom>
          <a:solidFill>
            <a:srgbClr val="242A4A"/>
          </a:solidFill>
          <a:ln w="25400">
            <a:solidFill>
              <a:srgbClr val="4F8EF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480560" y="4206240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889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Packet </a:t>
            </a:r>
            <a:r>
              <a:rPr lang="en-US" sz="1000" i="1" dirty="0" err="1">
                <a:solidFill>
                  <a:srgbClr val="889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Tacer</a:t>
            </a:r>
            <a:r>
              <a:rPr lang="en-US" sz="1000" i="1" dirty="0">
                <a:solidFill>
                  <a:srgbClr val="889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889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topológia</a:t>
            </a:r>
            <a:r>
              <a:rPr lang="en-US" sz="1000" i="1" dirty="0">
                <a:solidFill>
                  <a:srgbClr val="889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screenshot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365760" y="960120"/>
            <a:ext cx="3749040" cy="731520"/>
          </a:xfrm>
          <a:prstGeom prst="rect">
            <a:avLst/>
          </a:prstGeom>
          <a:solidFill>
            <a:srgbClr val="242A4A"/>
          </a:solidFill>
          <a:ln w="19050">
            <a:solidFill>
              <a:srgbClr val="EF444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65760" y="960120"/>
            <a:ext cx="91440" cy="7315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48640" y="1005840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🔴  CORE réteg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1307592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hu-HU" sz="1100" dirty="0">
                <a:solidFill>
                  <a:srgbClr val="C8D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r>
              <a:rPr lang="en-US" sz="1100" dirty="0">
                <a:solidFill>
                  <a:srgbClr val="C8D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db Cisco 2911 router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65760" y="1783080"/>
            <a:ext cx="3749040" cy="731520"/>
          </a:xfrm>
          <a:prstGeom prst="rect">
            <a:avLst/>
          </a:prstGeom>
          <a:solidFill>
            <a:srgbClr val="242A4A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65760" y="1783080"/>
            <a:ext cx="91440" cy="7315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1828800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🟡  DISTRIBUTION réteg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48640" y="2130552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hu-HU" sz="1100" dirty="0">
                <a:solidFill>
                  <a:srgbClr val="C8D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r>
              <a:rPr lang="en-US" sz="1100" dirty="0">
                <a:solidFill>
                  <a:srgbClr val="C8D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db Cisco 2960-24TT switch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365760" y="2606040"/>
            <a:ext cx="3749040" cy="731520"/>
          </a:xfrm>
          <a:prstGeom prst="rect">
            <a:avLst/>
          </a:prstGeom>
          <a:solidFill>
            <a:srgbClr val="24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65760" y="2606040"/>
            <a:ext cx="91440" cy="73152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48640" y="2651760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🟢  ACCESS réteg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48640" y="2953512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hu-HU" sz="1100" dirty="0">
                <a:solidFill>
                  <a:srgbClr val="C8D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r>
              <a:rPr lang="en-US" sz="1100" dirty="0">
                <a:solidFill>
                  <a:srgbClr val="C8D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végberendezés (PC, szerver, nyomtató)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5760" y="347472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CB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RÉSZLEG: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365760" y="3749040"/>
            <a:ext cx="3749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8D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Vezetői iroda  •  HR  •  Pénzügy  •  Ügyfélszolgálat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C8D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Dolgozószoba  •  Raktár  •  Szerverszoba</a:t>
            </a:r>
            <a:endParaRPr lang="en-US" sz="1100" dirty="0"/>
          </a:p>
        </p:txBody>
      </p:sp>
      <p:pic>
        <p:nvPicPr>
          <p:cNvPr id="22" name="Kép 21">
            <a:extLst>
              <a:ext uri="{FF2B5EF4-FFF2-40B4-BE49-F238E27FC236}">
                <a16:creationId xmlns:a16="http://schemas.microsoft.com/office/drawing/2014/main" id="{FE3178A1-2138-415E-AE59-3297B51B9CD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425" t="5916"/>
          <a:stretch/>
        </p:blipFill>
        <p:spPr>
          <a:xfrm>
            <a:off x="4645441" y="1850814"/>
            <a:ext cx="3844398" cy="167386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F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2C3566"/>
          </a:solidFill>
          <a:ln w="12700">
            <a:solidFill>
              <a:srgbClr val="2C356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🛡️  BIZTONSÁGI PROTOKOLLOK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65760" y="914400"/>
            <a:ext cx="3931920" cy="3566160"/>
          </a:xfrm>
          <a:prstGeom prst="rect">
            <a:avLst/>
          </a:prstGeom>
          <a:solidFill>
            <a:srgbClr val="242A4A"/>
          </a:solidFill>
          <a:ln w="19050">
            <a:solidFill>
              <a:srgbClr val="4F8EF7"/>
            </a:solidFill>
            <a:prstDash val="solid"/>
          </a:ln>
          <a:effectLst>
            <a:outerShdw blurRad="190500" dist="381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914400"/>
            <a:ext cx="3931920" cy="73152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051560"/>
            <a:ext cx="548640" cy="5486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34440" y="1024128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TŰZFAL – Cisco ASA 5506-X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169164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CB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 csinál: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48640" y="1938528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8D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Be- és kimenő forgalom szűrése, káros tartalom blokkolása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48640" y="24688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CB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Hogyan: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48640" y="2715768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8D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Stateful inspection – minden kapcsolatot nyomon követ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548640" y="32461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CB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Konfig: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548640" y="3493008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8D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DMZ zóna  •  NAT  •  Port forwarding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846320" y="914400"/>
            <a:ext cx="3931920" cy="3566160"/>
          </a:xfrm>
          <a:prstGeom prst="rect">
            <a:avLst/>
          </a:prstGeom>
          <a:solidFill>
            <a:srgbClr val="242A4A"/>
          </a:solidFill>
          <a:ln w="19050">
            <a:solidFill>
              <a:srgbClr val="F59E0B"/>
            </a:solidFill>
            <a:prstDash val="solid"/>
          </a:ln>
          <a:effectLst>
            <a:outerShdw blurRad="190500" dist="381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846320" y="914400"/>
            <a:ext cx="393192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5715000" y="1024128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19" name="Text 15"/>
          <p:cNvSpPr/>
          <p:nvPr/>
        </p:nvSpPr>
        <p:spPr>
          <a:xfrm>
            <a:off x="5029200" y="169164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20" name="Text 16"/>
          <p:cNvSpPr/>
          <p:nvPr/>
        </p:nvSpPr>
        <p:spPr>
          <a:xfrm>
            <a:off x="5029200" y="1938528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5029200" y="24688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22" name="Text 18"/>
          <p:cNvSpPr/>
          <p:nvPr/>
        </p:nvSpPr>
        <p:spPr>
          <a:xfrm>
            <a:off x="5029200" y="2715768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23" name="Text 19"/>
          <p:cNvSpPr/>
          <p:nvPr/>
        </p:nvSpPr>
        <p:spPr>
          <a:xfrm>
            <a:off x="5029200" y="32461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0" y="3493008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26" name="Text 22"/>
          <p:cNvSpPr/>
          <p:nvPr/>
        </p:nvSpPr>
        <p:spPr>
          <a:xfrm>
            <a:off x="548640" y="4608576"/>
            <a:ext cx="804672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/>
          </a:p>
        </p:txBody>
      </p:sp>
      <p:pic>
        <p:nvPicPr>
          <p:cNvPr id="27" name="Kép 26">
            <a:extLst>
              <a:ext uri="{FF2B5EF4-FFF2-40B4-BE49-F238E27FC236}">
                <a16:creationId xmlns:a16="http://schemas.microsoft.com/office/drawing/2014/main" id="{9181BADB-1724-4418-9124-F86B4F0019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0822" y="1736074"/>
            <a:ext cx="1577378" cy="1867948"/>
          </a:xfrm>
          <a:prstGeom prst="rect">
            <a:avLst/>
          </a:prstGeom>
        </p:spPr>
      </p:pic>
      <p:pic>
        <p:nvPicPr>
          <p:cNvPr id="29" name="Kép 28">
            <a:extLst>
              <a:ext uri="{FF2B5EF4-FFF2-40B4-BE49-F238E27FC236}">
                <a16:creationId xmlns:a16="http://schemas.microsoft.com/office/drawing/2014/main" id="{27B056B6-74FF-433B-984D-765B791D6D2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53422" y="1736074"/>
            <a:ext cx="1407360" cy="186794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F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2C3566"/>
          </a:solidFill>
          <a:ln w="12700">
            <a:solidFill>
              <a:srgbClr val="2C356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🏢  </a:t>
            </a:r>
            <a:r>
              <a:rPr lang="hu-HU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SZERVER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65760" y="960120"/>
            <a:ext cx="3840480" cy="3657600"/>
          </a:xfrm>
          <a:prstGeom prst="rect">
            <a:avLst/>
          </a:prstGeom>
          <a:solidFill>
            <a:srgbClr val="242A4A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57200" y="42519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4572000" y="960120"/>
            <a:ext cx="4114800" cy="594360"/>
          </a:xfrm>
          <a:prstGeom prst="rect">
            <a:avLst/>
          </a:prstGeom>
          <a:solidFill>
            <a:srgbClr val="242A4A"/>
          </a:solidFill>
          <a:ln w="12700">
            <a:solidFill>
              <a:srgbClr val="2C356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72000" y="960120"/>
            <a:ext cx="73152" cy="594360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751576" y="115519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CB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📍  </a:t>
            </a:r>
            <a:r>
              <a:rPr lang="hu-HU" sz="1400" b="1" dirty="0">
                <a:solidFill>
                  <a:srgbClr val="7CB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KÖVETELMÉNYEK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709160" y="123444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4572000" y="1645920"/>
            <a:ext cx="4114800" cy="594360"/>
          </a:xfrm>
          <a:prstGeom prst="rect">
            <a:avLst/>
          </a:prstGeom>
          <a:solidFill>
            <a:srgbClr val="242A4A"/>
          </a:solidFill>
          <a:ln w="12700">
            <a:solidFill>
              <a:srgbClr val="2C3566"/>
            </a:solidFill>
            <a:prstDash val="solid"/>
          </a:ln>
        </p:spPr>
        <p:txBody>
          <a:bodyPr/>
          <a:lstStyle/>
          <a:p>
            <a:endParaRPr lang="hu-HU" dirty="0"/>
          </a:p>
        </p:txBody>
      </p:sp>
      <p:sp>
        <p:nvSpPr>
          <p:cNvPr id="13" name="Shape 10"/>
          <p:cNvSpPr/>
          <p:nvPr/>
        </p:nvSpPr>
        <p:spPr>
          <a:xfrm>
            <a:off x="4572000" y="1645920"/>
            <a:ext cx="73152" cy="594360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709160" y="169164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5925725" y="1819656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hu-HU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DIRECTORY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4572000" y="2331720"/>
            <a:ext cx="4114800" cy="594360"/>
          </a:xfrm>
          <a:prstGeom prst="rect">
            <a:avLst/>
          </a:prstGeom>
          <a:solidFill>
            <a:srgbClr val="242A4A"/>
          </a:solidFill>
          <a:ln w="12700">
            <a:solidFill>
              <a:srgbClr val="2C3566"/>
            </a:solidFill>
            <a:prstDash val="solid"/>
          </a:ln>
        </p:spPr>
        <p:txBody>
          <a:bodyPr/>
          <a:lstStyle/>
          <a:p>
            <a:endParaRPr lang="hu-HU" dirty="0"/>
          </a:p>
        </p:txBody>
      </p:sp>
      <p:sp>
        <p:nvSpPr>
          <p:cNvPr id="17" name="Shape 14"/>
          <p:cNvSpPr/>
          <p:nvPr/>
        </p:nvSpPr>
        <p:spPr>
          <a:xfrm>
            <a:off x="4572000" y="2331720"/>
            <a:ext cx="73152" cy="594360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709160" y="260604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4709160" y="306324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4709160" y="329184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4709160" y="374904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6358078" y="2483349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hu-HU" sz="1300" b="1" dirty="0">
                <a:solidFill>
                  <a:schemeClr val="bg1"/>
                </a:solidFill>
                <a:latin typeface="+mj-lt"/>
              </a:rPr>
              <a:t>DHCP</a:t>
            </a:r>
            <a:endParaRPr lang="en-US" sz="1300" b="1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29" name="Text 26"/>
          <p:cNvSpPr/>
          <p:nvPr/>
        </p:nvSpPr>
        <p:spPr>
          <a:xfrm>
            <a:off x="4663440" y="452628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/>
          </a:p>
        </p:txBody>
      </p:sp>
      <p:pic>
        <p:nvPicPr>
          <p:cNvPr id="20" name="Kép 19">
            <a:extLst>
              <a:ext uri="{FF2B5EF4-FFF2-40B4-BE49-F238E27FC236}">
                <a16:creationId xmlns:a16="http://schemas.microsoft.com/office/drawing/2014/main" id="{26278D47-7FF5-490D-83B8-C1C3A369B60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463" b="6744"/>
          <a:stretch/>
        </p:blipFill>
        <p:spPr>
          <a:xfrm>
            <a:off x="511198" y="1907755"/>
            <a:ext cx="3493874" cy="1841285"/>
          </a:xfrm>
          <a:prstGeom prst="rect">
            <a:avLst/>
          </a:prstGeom>
        </p:spPr>
      </p:pic>
      <p:sp>
        <p:nvSpPr>
          <p:cNvPr id="30" name="Shape 13">
            <a:extLst>
              <a:ext uri="{FF2B5EF4-FFF2-40B4-BE49-F238E27FC236}">
                <a16:creationId xmlns:a16="http://schemas.microsoft.com/office/drawing/2014/main" id="{C2C452EA-EDB1-409A-9532-C1FC2FF63BEB}"/>
              </a:ext>
            </a:extLst>
          </p:cNvPr>
          <p:cNvSpPr/>
          <p:nvPr/>
        </p:nvSpPr>
        <p:spPr>
          <a:xfrm>
            <a:off x="4572000" y="3012149"/>
            <a:ext cx="4114800" cy="594360"/>
          </a:xfrm>
          <a:prstGeom prst="rect">
            <a:avLst/>
          </a:prstGeom>
          <a:solidFill>
            <a:srgbClr val="242A4A"/>
          </a:solidFill>
          <a:ln w="12700">
            <a:solidFill>
              <a:srgbClr val="2C3566"/>
            </a:solidFill>
            <a:prstDash val="solid"/>
          </a:ln>
        </p:spPr>
        <p:txBody>
          <a:bodyPr/>
          <a:lstStyle/>
          <a:p>
            <a:endParaRPr lang="hu-HU" dirty="0"/>
          </a:p>
        </p:txBody>
      </p:sp>
      <p:sp>
        <p:nvSpPr>
          <p:cNvPr id="31" name="Shape 13">
            <a:extLst>
              <a:ext uri="{FF2B5EF4-FFF2-40B4-BE49-F238E27FC236}">
                <a16:creationId xmlns:a16="http://schemas.microsoft.com/office/drawing/2014/main" id="{273AD76D-4353-42A4-9B64-47A9BF936354}"/>
              </a:ext>
            </a:extLst>
          </p:cNvPr>
          <p:cNvSpPr/>
          <p:nvPr/>
        </p:nvSpPr>
        <p:spPr>
          <a:xfrm>
            <a:off x="4572000" y="3691128"/>
            <a:ext cx="4114800" cy="594360"/>
          </a:xfrm>
          <a:prstGeom prst="rect">
            <a:avLst/>
          </a:prstGeom>
          <a:solidFill>
            <a:srgbClr val="242A4A"/>
          </a:solidFill>
          <a:ln w="12700">
            <a:solidFill>
              <a:srgbClr val="2C3566"/>
            </a:solidFill>
            <a:prstDash val="solid"/>
          </a:ln>
        </p:spPr>
        <p:txBody>
          <a:bodyPr/>
          <a:lstStyle/>
          <a:p>
            <a:endParaRPr lang="hu-HU" dirty="0"/>
          </a:p>
        </p:txBody>
      </p:sp>
      <p:sp>
        <p:nvSpPr>
          <p:cNvPr id="32" name="Shape 13">
            <a:extLst>
              <a:ext uri="{FF2B5EF4-FFF2-40B4-BE49-F238E27FC236}">
                <a16:creationId xmlns:a16="http://schemas.microsoft.com/office/drawing/2014/main" id="{FE7E742C-133C-4C72-A8F8-AA9EAB15D747}"/>
              </a:ext>
            </a:extLst>
          </p:cNvPr>
          <p:cNvSpPr/>
          <p:nvPr/>
        </p:nvSpPr>
        <p:spPr>
          <a:xfrm>
            <a:off x="4572000" y="4370107"/>
            <a:ext cx="4114800" cy="594360"/>
          </a:xfrm>
          <a:prstGeom prst="rect">
            <a:avLst/>
          </a:prstGeom>
          <a:solidFill>
            <a:srgbClr val="242A4A"/>
          </a:solidFill>
          <a:ln w="12700">
            <a:solidFill>
              <a:srgbClr val="2C3566"/>
            </a:solidFill>
            <a:prstDash val="solid"/>
          </a:ln>
        </p:spPr>
        <p:txBody>
          <a:bodyPr/>
          <a:lstStyle/>
          <a:p>
            <a:endParaRPr lang="hu-HU" dirty="0"/>
          </a:p>
        </p:txBody>
      </p:sp>
      <p:sp>
        <p:nvSpPr>
          <p:cNvPr id="34" name="Shape 14">
            <a:extLst>
              <a:ext uri="{FF2B5EF4-FFF2-40B4-BE49-F238E27FC236}">
                <a16:creationId xmlns:a16="http://schemas.microsoft.com/office/drawing/2014/main" id="{B6B1E06E-8763-425A-8A18-C2968D1EFB05}"/>
              </a:ext>
            </a:extLst>
          </p:cNvPr>
          <p:cNvSpPr/>
          <p:nvPr/>
        </p:nvSpPr>
        <p:spPr>
          <a:xfrm>
            <a:off x="4567428" y="3012149"/>
            <a:ext cx="73152" cy="594360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36" name="Shape 14">
            <a:extLst>
              <a:ext uri="{FF2B5EF4-FFF2-40B4-BE49-F238E27FC236}">
                <a16:creationId xmlns:a16="http://schemas.microsoft.com/office/drawing/2014/main" id="{31616C5E-3E75-4A4C-A2E9-5FA0D517CB22}"/>
              </a:ext>
            </a:extLst>
          </p:cNvPr>
          <p:cNvSpPr/>
          <p:nvPr/>
        </p:nvSpPr>
        <p:spPr>
          <a:xfrm>
            <a:off x="4572000" y="3701627"/>
            <a:ext cx="73152" cy="594360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37" name="Shape 14">
            <a:extLst>
              <a:ext uri="{FF2B5EF4-FFF2-40B4-BE49-F238E27FC236}">
                <a16:creationId xmlns:a16="http://schemas.microsoft.com/office/drawing/2014/main" id="{0B20DE86-E762-46D9-B7F6-473D460382EF}"/>
              </a:ext>
            </a:extLst>
          </p:cNvPr>
          <p:cNvSpPr/>
          <p:nvPr/>
        </p:nvSpPr>
        <p:spPr>
          <a:xfrm>
            <a:off x="4572000" y="4378378"/>
            <a:ext cx="73152" cy="594360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21" name="Szövegdoboz 20">
            <a:extLst>
              <a:ext uri="{FF2B5EF4-FFF2-40B4-BE49-F238E27FC236}">
                <a16:creationId xmlns:a16="http://schemas.microsoft.com/office/drawing/2014/main" id="{53F2C664-2939-44A2-B1DC-8B2AABA710EB}"/>
              </a:ext>
            </a:extLst>
          </p:cNvPr>
          <p:cNvSpPr txBox="1"/>
          <p:nvPr/>
        </p:nvSpPr>
        <p:spPr>
          <a:xfrm>
            <a:off x="6383178" y="3137951"/>
            <a:ext cx="49244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1400" b="1" dirty="0">
                <a:solidFill>
                  <a:schemeClr val="bg1"/>
                </a:solidFill>
                <a:latin typeface="+mj-lt"/>
              </a:rPr>
              <a:t>DNS</a:t>
            </a:r>
          </a:p>
        </p:txBody>
      </p:sp>
      <p:sp>
        <p:nvSpPr>
          <p:cNvPr id="24" name="Szövegdoboz 23">
            <a:extLst>
              <a:ext uri="{FF2B5EF4-FFF2-40B4-BE49-F238E27FC236}">
                <a16:creationId xmlns:a16="http://schemas.microsoft.com/office/drawing/2014/main" id="{32A60A98-803F-4C55-AAEB-DCC3C478B483}"/>
              </a:ext>
            </a:extLst>
          </p:cNvPr>
          <p:cNvSpPr txBox="1"/>
          <p:nvPr/>
        </p:nvSpPr>
        <p:spPr>
          <a:xfrm>
            <a:off x="5404156" y="3845851"/>
            <a:ext cx="252364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1400" b="1" dirty="0">
                <a:solidFill>
                  <a:schemeClr val="bg1"/>
                </a:solidFill>
                <a:latin typeface="+mj-lt"/>
              </a:rPr>
              <a:t>FÁJL ÉS NOMYTATÓ MEGOSZTÁS</a:t>
            </a:r>
          </a:p>
        </p:txBody>
      </p:sp>
      <p:sp>
        <p:nvSpPr>
          <p:cNvPr id="25" name="Szövegdoboz 24">
            <a:extLst>
              <a:ext uri="{FF2B5EF4-FFF2-40B4-BE49-F238E27FC236}">
                <a16:creationId xmlns:a16="http://schemas.microsoft.com/office/drawing/2014/main" id="{5DBC8C3D-D732-433B-AB84-0944C5268E77}"/>
              </a:ext>
            </a:extLst>
          </p:cNvPr>
          <p:cNvSpPr txBox="1"/>
          <p:nvPr/>
        </p:nvSpPr>
        <p:spPr>
          <a:xfrm>
            <a:off x="5230326" y="4509542"/>
            <a:ext cx="287129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1400" b="1" dirty="0">
                <a:solidFill>
                  <a:schemeClr val="bg1"/>
                </a:solidFill>
                <a:latin typeface="+mj-lt"/>
              </a:rPr>
              <a:t>AUTOMATIZÁLT SZOFTVERTELEPÍTÉS</a:t>
            </a:r>
          </a:p>
        </p:txBody>
      </p:sp>
    </p:spTree>
    <p:extLst>
      <p:ext uri="{BB962C8B-B14F-4D97-AF65-F5344CB8AC3E}">
        <p14:creationId xmlns:p14="http://schemas.microsoft.com/office/powerpoint/2010/main" val="953198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F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2C3566"/>
          </a:solidFill>
          <a:ln w="12700">
            <a:solidFill>
              <a:srgbClr val="2C356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🏢  </a:t>
            </a:r>
            <a:r>
              <a:rPr lang="hu-HU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SZERVER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65760" y="960120"/>
            <a:ext cx="3840480" cy="3657600"/>
          </a:xfrm>
          <a:prstGeom prst="rect">
            <a:avLst/>
          </a:prstGeom>
          <a:solidFill>
            <a:srgbClr val="242A4A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57200" y="42519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4572000" y="960120"/>
            <a:ext cx="4114800" cy="594360"/>
          </a:xfrm>
          <a:prstGeom prst="rect">
            <a:avLst/>
          </a:prstGeom>
          <a:solidFill>
            <a:srgbClr val="242A4A"/>
          </a:solidFill>
          <a:ln w="12700">
            <a:solidFill>
              <a:srgbClr val="2C356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72000" y="960120"/>
            <a:ext cx="73152" cy="594360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751576" y="115519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CB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📍  </a:t>
            </a:r>
            <a:r>
              <a:rPr lang="hu-HU" sz="1400" b="1" dirty="0">
                <a:solidFill>
                  <a:srgbClr val="7CB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KÖVETELMÉNYEK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709160" y="123444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4572000" y="1645920"/>
            <a:ext cx="4114800" cy="594360"/>
          </a:xfrm>
          <a:prstGeom prst="rect">
            <a:avLst/>
          </a:prstGeom>
          <a:solidFill>
            <a:srgbClr val="242A4A"/>
          </a:solidFill>
          <a:ln w="12700">
            <a:solidFill>
              <a:srgbClr val="2C3566"/>
            </a:solidFill>
            <a:prstDash val="solid"/>
          </a:ln>
        </p:spPr>
        <p:txBody>
          <a:bodyPr/>
          <a:lstStyle/>
          <a:p>
            <a:endParaRPr lang="hu-HU" dirty="0"/>
          </a:p>
        </p:txBody>
      </p:sp>
      <p:sp>
        <p:nvSpPr>
          <p:cNvPr id="13" name="Shape 10"/>
          <p:cNvSpPr/>
          <p:nvPr/>
        </p:nvSpPr>
        <p:spPr>
          <a:xfrm>
            <a:off x="4572000" y="1645920"/>
            <a:ext cx="73152" cy="594360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709160" y="169164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5212080" y="1832187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hu-HU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HTTP/HTTPS – APACHE2 WEBSZERVER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4572000" y="2331720"/>
            <a:ext cx="4114800" cy="594360"/>
          </a:xfrm>
          <a:prstGeom prst="rect">
            <a:avLst/>
          </a:prstGeom>
          <a:solidFill>
            <a:srgbClr val="242A4A"/>
          </a:solidFill>
          <a:ln w="12700">
            <a:solidFill>
              <a:srgbClr val="2C3566"/>
            </a:solidFill>
            <a:prstDash val="solid"/>
          </a:ln>
        </p:spPr>
        <p:txBody>
          <a:bodyPr/>
          <a:lstStyle/>
          <a:p>
            <a:endParaRPr lang="hu-HU" dirty="0"/>
          </a:p>
        </p:txBody>
      </p:sp>
      <p:sp>
        <p:nvSpPr>
          <p:cNvPr id="17" name="Shape 14"/>
          <p:cNvSpPr/>
          <p:nvPr/>
        </p:nvSpPr>
        <p:spPr>
          <a:xfrm>
            <a:off x="4572000" y="2331720"/>
            <a:ext cx="73152" cy="594360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709160" y="237744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4709160" y="260604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4709160" y="306324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4709160" y="329184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4709160" y="374904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5623560" y="246888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hu-HU" sz="1300" b="1" dirty="0">
                <a:solidFill>
                  <a:schemeClr val="bg1"/>
                </a:solidFill>
                <a:latin typeface="+mj-lt"/>
              </a:rPr>
              <a:t>AUTOMATIZÁLT MENTÉS</a:t>
            </a:r>
            <a:endParaRPr lang="en-US" sz="1300" b="1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28" name="Shape 25"/>
          <p:cNvSpPr/>
          <p:nvPr/>
        </p:nvSpPr>
        <p:spPr>
          <a:xfrm>
            <a:off x="4572000" y="4480560"/>
            <a:ext cx="4114800" cy="502920"/>
          </a:xfrm>
          <a:prstGeom prst="rect">
            <a:avLst/>
          </a:prstGeom>
          <a:solidFill>
            <a:srgbClr val="0D3B6E"/>
          </a:solidFill>
          <a:ln w="12700">
            <a:solidFill>
              <a:srgbClr val="7CB3FF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663440" y="452628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7CB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</a:t>
            </a:r>
            <a:r>
              <a:rPr lang="hu-HU" sz="1100" i="1" dirty="0">
                <a:solidFill>
                  <a:srgbClr val="7CB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Kép az Apache2 szerverről</a:t>
            </a:r>
            <a:endParaRPr lang="en-US" sz="1100" dirty="0"/>
          </a:p>
        </p:txBody>
      </p:sp>
      <p:pic>
        <p:nvPicPr>
          <p:cNvPr id="33" name="Kép 32">
            <a:extLst>
              <a:ext uri="{FF2B5EF4-FFF2-40B4-BE49-F238E27FC236}">
                <a16:creationId xmlns:a16="http://schemas.microsoft.com/office/drawing/2014/main" id="{187162FD-0A4C-41C8-BA58-A3DF208DC2B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6409" t="12886" r="16237" b="12887"/>
          <a:stretch/>
        </p:blipFill>
        <p:spPr>
          <a:xfrm>
            <a:off x="530352" y="1832187"/>
            <a:ext cx="3436393" cy="2130213"/>
          </a:xfrm>
          <a:prstGeom prst="rect">
            <a:avLst/>
          </a:prstGeom>
        </p:spPr>
      </p:pic>
      <p:pic>
        <p:nvPicPr>
          <p:cNvPr id="35" name="Kép 34">
            <a:extLst>
              <a:ext uri="{FF2B5EF4-FFF2-40B4-BE49-F238E27FC236}">
                <a16:creationId xmlns:a16="http://schemas.microsoft.com/office/drawing/2014/main" id="{FBE05668-9AF2-4B97-9985-EFFAD45B52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29954" y="2963334"/>
            <a:ext cx="2616011" cy="1471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14944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F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2C3566"/>
          </a:solidFill>
          <a:ln w="12700">
            <a:solidFill>
              <a:srgbClr val="2C356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  HÁLÓZATI PROTOKOLLOK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65760" y="914400"/>
            <a:ext cx="4114800" cy="1737360"/>
          </a:xfrm>
          <a:prstGeom prst="rect">
            <a:avLst/>
          </a:prstGeom>
          <a:solidFill>
            <a:srgbClr val="242A4A"/>
          </a:solidFill>
          <a:ln w="19050">
            <a:solidFill>
              <a:srgbClr val="4F8EF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914400"/>
            <a:ext cx="73152" cy="1737360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00584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4F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🔀  OSPF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48640" y="141732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89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Shortest Path First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1691640"/>
            <a:ext cx="3749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8D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Dinamikus routing – automatikusan keresi a legrövidebb utat. Ha kiesik egy link, azonnal új útvonal!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754880" y="914400"/>
            <a:ext cx="4114800" cy="1737360"/>
          </a:xfrm>
          <a:prstGeom prst="rect">
            <a:avLst/>
          </a:prstGeom>
          <a:solidFill>
            <a:srgbClr val="24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914400"/>
            <a:ext cx="73152" cy="173736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37760" y="100584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🔲  VLAN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937760" y="141732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89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LAN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937760" y="1691640"/>
            <a:ext cx="3749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8D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Hálózat szegmentáció – 1 fizikai hálózat több virtuális részre. Biztonság ↑  •  Teljesítmény ↑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2834640"/>
            <a:ext cx="4114800" cy="1737360"/>
          </a:xfrm>
          <a:prstGeom prst="rect">
            <a:avLst/>
          </a:prstGeom>
          <a:solidFill>
            <a:srgbClr val="242A4A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65760" y="2834640"/>
            <a:ext cx="73152" cy="17373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292608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📡  DHCP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548640" y="333756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89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Host Config Protocol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48640" y="3611880"/>
            <a:ext cx="3749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8D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Automatikus IP kiosztás – szerver adja ki az IP-t, maszkot, gateway-t és DNS-t.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754880" y="2834640"/>
            <a:ext cx="4114800" cy="1737360"/>
          </a:xfrm>
          <a:prstGeom prst="rect">
            <a:avLst/>
          </a:prstGeom>
          <a:solidFill>
            <a:srgbClr val="242A4A"/>
          </a:solidFill>
          <a:ln w="19050">
            <a:solidFill>
              <a:srgbClr val="EF444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754880" y="2834640"/>
            <a:ext cx="73152" cy="173736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937760" y="292608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 ACL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4937760" y="333756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89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Control List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937760" y="3611880"/>
            <a:ext cx="3749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8D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Hozzáférési szabályok – ki mit érhet el. Pl. HR csak a bérszámfejtéshez fér hozzá!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48640" y="4645152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F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2C3566"/>
          </a:solidFill>
          <a:ln w="12700">
            <a:solidFill>
              <a:srgbClr val="2C356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 JIRA – PROJEKTMENEDZSMENT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65760" y="964692"/>
            <a:ext cx="1920240" cy="411480"/>
          </a:xfrm>
          <a:prstGeom prst="rect">
            <a:avLst/>
          </a:prstGeom>
          <a:solidFill>
            <a:srgbClr val="C8D4F0"/>
          </a:solidFill>
          <a:ln w="12700">
            <a:solidFill>
              <a:srgbClr val="C8D4F0"/>
            </a:solidFill>
            <a:prstDash val="solid"/>
          </a:ln>
        </p:spPr>
        <p:txBody>
          <a:bodyPr/>
          <a:lstStyle/>
          <a:p>
            <a:endParaRPr lang="hu-HU" dirty="0"/>
          </a:p>
        </p:txBody>
      </p:sp>
      <p:sp>
        <p:nvSpPr>
          <p:cNvPr id="6" name="Text 4"/>
          <p:cNvSpPr/>
          <p:nvPr/>
        </p:nvSpPr>
        <p:spPr>
          <a:xfrm>
            <a:off x="365760" y="987552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hu-HU" sz="1100" b="1" dirty="0">
                <a:solidFill>
                  <a:srgbClr val="1A1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IDŐ LOGOLÁS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50876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205740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" y="260604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515359" y="946404"/>
            <a:ext cx="1920240" cy="411480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515359" y="951512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hu-HU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MUNKAFOLYAMAT NYOMONKÖVETÉSE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560320" y="150876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560320" y="205740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560320" y="260604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858000" y="1001268"/>
            <a:ext cx="1920240" cy="4114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58000" y="1008126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hu-HU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FELADAT KIOSZTÁS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663440" y="150876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663440" y="205740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663440" y="260604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675120" y="987552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766560" y="150876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66560" y="205740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766560" y="260604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02920" y="333756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502920" y="365760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3337560" y="333756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3337560" y="365760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6172200" y="333756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172200" y="365760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548640" y="4462272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pic>
        <p:nvPicPr>
          <p:cNvPr id="49" name="Kép 48">
            <a:extLst>
              <a:ext uri="{FF2B5EF4-FFF2-40B4-BE49-F238E27FC236}">
                <a16:creationId xmlns:a16="http://schemas.microsoft.com/office/drawing/2014/main" id="{4E1A70A1-F4B0-489D-8A55-772A4FFCA7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1253" y="3255264"/>
            <a:ext cx="3288453" cy="157205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40" name="Kép 39">
            <a:extLst>
              <a:ext uri="{FF2B5EF4-FFF2-40B4-BE49-F238E27FC236}">
                <a16:creationId xmlns:a16="http://schemas.microsoft.com/office/drawing/2014/main" id="{7FAE4538-6FD2-439A-97A7-B31A0DE809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8539" y="1716701"/>
            <a:ext cx="1874682" cy="1303133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46" name="Kép 45">
            <a:extLst>
              <a:ext uri="{FF2B5EF4-FFF2-40B4-BE49-F238E27FC236}">
                <a16:creationId xmlns:a16="http://schemas.microsoft.com/office/drawing/2014/main" id="{3554BEA6-38C1-4E5D-B22A-E2D63F1EB2D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93771" y="1701320"/>
            <a:ext cx="2465018" cy="1303133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50" name="Kép 49">
            <a:extLst>
              <a:ext uri="{FF2B5EF4-FFF2-40B4-BE49-F238E27FC236}">
                <a16:creationId xmlns:a16="http://schemas.microsoft.com/office/drawing/2014/main" id="{45F52407-0AEE-4F48-868B-D432AB8EA0D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11842" y="1602176"/>
            <a:ext cx="1812556" cy="191628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F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2C3566"/>
          </a:solidFill>
          <a:ln w="12700">
            <a:solidFill>
              <a:srgbClr val="2C356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PROJEKT STATISZTIKÁK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65760" y="91440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⏱️  Időráfordítás megoszlása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1371600"/>
            <a:ext cx="4114800" cy="475488"/>
          </a:xfrm>
          <a:prstGeom prst="rect">
            <a:avLst/>
          </a:prstGeom>
          <a:solidFill>
            <a:srgbClr val="242A4A"/>
          </a:solidFill>
          <a:ln w="12700">
            <a:solidFill>
              <a:srgbClr val="2C356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1371600"/>
            <a:ext cx="1645920" cy="475488"/>
          </a:xfrm>
          <a:prstGeom prst="rect">
            <a:avLst/>
          </a:prstGeom>
          <a:solidFill>
            <a:srgbClr val="4F8EF7">
              <a:alpha val="80000"/>
            </a:srgbClr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46304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40%  Implementáció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1938528"/>
            <a:ext cx="4114800" cy="475488"/>
          </a:xfrm>
          <a:prstGeom prst="rect">
            <a:avLst/>
          </a:prstGeom>
          <a:solidFill>
            <a:srgbClr val="242A4A"/>
          </a:solidFill>
          <a:ln w="12700">
            <a:solidFill>
              <a:srgbClr val="2C356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" y="1938528"/>
            <a:ext cx="1234440" cy="475488"/>
          </a:xfrm>
          <a:prstGeom prst="rect">
            <a:avLst/>
          </a:prstGeom>
          <a:solidFill>
            <a:srgbClr val="22C55E">
              <a:alpha val="80000"/>
            </a:srgbClr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202996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  Tervezés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65760" y="2505456"/>
            <a:ext cx="4114800" cy="475488"/>
          </a:xfrm>
          <a:prstGeom prst="rect">
            <a:avLst/>
          </a:prstGeom>
          <a:solidFill>
            <a:srgbClr val="242A4A"/>
          </a:solidFill>
          <a:ln w="12700">
            <a:solidFill>
              <a:srgbClr val="2C356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505456"/>
            <a:ext cx="822960" cy="475488"/>
          </a:xfrm>
          <a:prstGeom prst="rect">
            <a:avLst/>
          </a:prstGeom>
          <a:solidFill>
            <a:srgbClr val="F59E0B">
              <a:alpha val="80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596896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  Tesztelés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3072384"/>
            <a:ext cx="4114800" cy="475488"/>
          </a:xfrm>
          <a:prstGeom prst="rect">
            <a:avLst/>
          </a:prstGeom>
          <a:solidFill>
            <a:srgbClr val="242A4A"/>
          </a:solidFill>
          <a:ln w="12700">
            <a:solidFill>
              <a:srgbClr val="2C356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65760" y="3072384"/>
            <a:ext cx="411480" cy="475488"/>
          </a:xfrm>
          <a:prstGeom prst="rect">
            <a:avLst/>
          </a:prstGeom>
          <a:solidFill>
            <a:srgbClr val="A78BFA">
              <a:alpha val="80000"/>
            </a:srgbClr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" y="3163824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  Dokumentáció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754880" y="91440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🖥️  Eszközök megoszlása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754880" y="1371600"/>
            <a:ext cx="1920240" cy="1097280"/>
          </a:xfrm>
          <a:prstGeom prst="rect">
            <a:avLst/>
          </a:prstGeom>
          <a:solidFill>
            <a:srgbClr val="242A4A"/>
          </a:solidFill>
          <a:ln w="19050">
            <a:solidFill>
              <a:srgbClr val="4F8EF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54880" y="146304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hu-HU" sz="2800" b="1" dirty="0">
                <a:solidFill>
                  <a:srgbClr val="4F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</a:t>
            </a:r>
            <a:r>
              <a:rPr lang="en-US" sz="2800" b="1" dirty="0">
                <a:solidFill>
                  <a:srgbClr val="4F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4754880" y="201168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8D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  –  </a:t>
            </a:r>
            <a:r>
              <a:rPr lang="hu-HU" sz="1100" dirty="0">
                <a:solidFill>
                  <a:srgbClr val="C8D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r>
              <a:rPr lang="en-US" sz="1100" dirty="0">
                <a:solidFill>
                  <a:srgbClr val="C8D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db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858000" y="1371600"/>
            <a:ext cx="1920240" cy="1097280"/>
          </a:xfrm>
          <a:prstGeom prst="rect">
            <a:avLst/>
          </a:prstGeom>
          <a:solidFill>
            <a:srgbClr val="24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0" y="146304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hu-HU" sz="28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r>
              <a:rPr lang="en-US" sz="28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6858000" y="201168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8D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 –  </a:t>
            </a:r>
            <a:r>
              <a:rPr lang="hu-HU" sz="1100" dirty="0">
                <a:solidFill>
                  <a:srgbClr val="C8D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r>
              <a:rPr lang="en-US" sz="1100" dirty="0">
                <a:solidFill>
                  <a:srgbClr val="C8D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db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651760"/>
            <a:ext cx="1920240" cy="1097280"/>
          </a:xfrm>
          <a:prstGeom prst="rect">
            <a:avLst/>
          </a:prstGeom>
          <a:solidFill>
            <a:srgbClr val="242A4A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54880" y="274320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hu-HU" sz="2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r>
              <a:rPr lang="en-US" sz="2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2800" dirty="0"/>
          </a:p>
        </p:txBody>
      </p:sp>
      <p:sp>
        <p:nvSpPr>
          <p:cNvPr id="27" name="Text 25"/>
          <p:cNvSpPr/>
          <p:nvPr/>
        </p:nvSpPr>
        <p:spPr>
          <a:xfrm>
            <a:off x="4754880" y="329184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8D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Router  –  </a:t>
            </a:r>
            <a:r>
              <a:rPr lang="hu-HU" sz="1100" dirty="0">
                <a:solidFill>
                  <a:srgbClr val="C8D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r>
              <a:rPr lang="en-US" sz="1100" dirty="0">
                <a:solidFill>
                  <a:srgbClr val="C8D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db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858000" y="2651760"/>
            <a:ext cx="1920240" cy="1097280"/>
          </a:xfrm>
          <a:prstGeom prst="rect">
            <a:avLst/>
          </a:prstGeom>
          <a:solidFill>
            <a:srgbClr val="242A4A"/>
          </a:solidFill>
          <a:ln w="1905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hu-HU" dirty="0"/>
          </a:p>
        </p:txBody>
      </p:sp>
      <p:sp>
        <p:nvSpPr>
          <p:cNvPr id="29" name="Text 27"/>
          <p:cNvSpPr/>
          <p:nvPr/>
        </p:nvSpPr>
        <p:spPr>
          <a:xfrm>
            <a:off x="6858000" y="274320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hu-HU" sz="28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r>
              <a:rPr lang="en-US" sz="28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2800" dirty="0"/>
          </a:p>
        </p:txBody>
      </p:sp>
      <p:sp>
        <p:nvSpPr>
          <p:cNvPr id="30" name="Text 28"/>
          <p:cNvSpPr/>
          <p:nvPr/>
        </p:nvSpPr>
        <p:spPr>
          <a:xfrm>
            <a:off x="6858000" y="329184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8D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Szerver  –  3 db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48640" y="4535424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F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2C3566"/>
          </a:solidFill>
          <a:ln w="12700">
            <a:solidFill>
              <a:srgbClr val="2C356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🐙  GIT &amp; GITHUB – VERZIÓKEZELÉS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65760" y="960120"/>
            <a:ext cx="3840480" cy="3474720"/>
          </a:xfrm>
          <a:prstGeom prst="rect">
            <a:avLst/>
          </a:prstGeom>
          <a:solidFill>
            <a:srgbClr val="242A4A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57200" y="41148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4572000" y="960120"/>
            <a:ext cx="4114800" cy="804672"/>
          </a:xfrm>
          <a:prstGeom prst="rect">
            <a:avLst/>
          </a:prstGeom>
          <a:solidFill>
            <a:srgbClr val="242A4A"/>
          </a:solidFill>
          <a:ln w="12700">
            <a:solidFill>
              <a:srgbClr val="2C356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72000" y="960120"/>
            <a:ext cx="73152" cy="804672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754880" y="103327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🌿  Branch stratégia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4754880" y="1380744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8D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+ feature branch-ek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572000" y="1874520"/>
            <a:ext cx="4114800" cy="804672"/>
          </a:xfrm>
          <a:prstGeom prst="rect">
            <a:avLst/>
          </a:prstGeom>
          <a:solidFill>
            <a:srgbClr val="242A4A"/>
          </a:solidFill>
          <a:ln w="12700">
            <a:solidFill>
              <a:srgbClr val="2C356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572000" y="1874520"/>
            <a:ext cx="73152" cy="804672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754880" y="194767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 Commit konvenció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4754880" y="2295144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8D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Szemantikus commit üzenetek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572000" y="2788920"/>
            <a:ext cx="4114800" cy="804672"/>
          </a:xfrm>
          <a:prstGeom prst="rect">
            <a:avLst/>
          </a:prstGeom>
          <a:solidFill>
            <a:srgbClr val="242A4A"/>
          </a:solidFill>
          <a:ln w="12700">
            <a:solidFill>
              <a:srgbClr val="2C356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572000" y="2788920"/>
            <a:ext cx="73152" cy="804672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754880" y="286207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🔁  Pull Request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4754880" y="3209544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8D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review minden merge előtt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0" y="3749040"/>
            <a:ext cx="4114800" cy="685800"/>
          </a:xfrm>
          <a:prstGeom prst="rect">
            <a:avLst/>
          </a:prstGeom>
          <a:solidFill>
            <a:srgbClr val="0D3B6E"/>
          </a:solidFill>
          <a:ln w="12700">
            <a:solidFill>
              <a:srgbClr val="7CB3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709160" y="379476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CB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📦  Tárolt tartalmak: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709160" y="406908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8D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.pkt fájlok  •  Konfigurációk  •  Dokumentációk  •  Tesztek  •  Prezentáció</a:t>
            </a:r>
            <a:endParaRPr lang="en-US" sz="1000" dirty="0"/>
          </a:p>
        </p:txBody>
      </p:sp>
      <p:pic>
        <p:nvPicPr>
          <p:cNvPr id="24" name="Kép 23">
            <a:extLst>
              <a:ext uri="{FF2B5EF4-FFF2-40B4-BE49-F238E27FC236}">
                <a16:creationId xmlns:a16="http://schemas.microsoft.com/office/drawing/2014/main" id="{1E2F977F-8D01-4067-8E0E-F7CD11448B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215179"/>
            <a:ext cx="3132972" cy="2876761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F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2C3566"/>
          </a:solidFill>
          <a:ln w="12700">
            <a:solidFill>
              <a:srgbClr val="2C356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 SCRUM MÓDSZERTAN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65760" y="960120"/>
            <a:ext cx="2286000" cy="1097280"/>
          </a:xfrm>
          <a:prstGeom prst="rect">
            <a:avLst/>
          </a:prstGeom>
          <a:solidFill>
            <a:srgbClr val="242A4A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105156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4F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365760" y="16459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összesen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" y="2194560"/>
            <a:ext cx="2286000" cy="1097280"/>
          </a:xfrm>
          <a:prstGeom prst="rect">
            <a:avLst/>
          </a:prstGeom>
          <a:solidFill>
            <a:srgbClr val="242A4A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228600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4F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365760" y="28803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hu-HU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sprintek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65760" y="3429000"/>
            <a:ext cx="2286000" cy="1097280"/>
          </a:xfrm>
          <a:prstGeom prst="rect">
            <a:avLst/>
          </a:prstGeom>
          <a:solidFill>
            <a:srgbClr val="242A4A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352044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4F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15'</a:t>
            </a:r>
            <a:endParaRPr lang="en-US" sz="4800" dirty="0"/>
          </a:p>
        </p:txBody>
      </p:sp>
      <p:sp>
        <p:nvSpPr>
          <p:cNvPr id="13" name="Text 11"/>
          <p:cNvSpPr/>
          <p:nvPr/>
        </p:nvSpPr>
        <p:spPr>
          <a:xfrm>
            <a:off x="365760" y="41148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Napi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hu-HU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megbeszélés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926080" y="960120"/>
            <a:ext cx="5852160" cy="777240"/>
          </a:xfrm>
          <a:prstGeom prst="rect">
            <a:avLst/>
          </a:prstGeom>
          <a:solidFill>
            <a:srgbClr val="242A4A"/>
          </a:solidFill>
          <a:ln w="12700">
            <a:solidFill>
              <a:srgbClr val="2C356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926080" y="960120"/>
            <a:ext cx="73152" cy="777240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108960" y="10332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 Sprint Planning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108960" y="1362456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8D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Heti feladatok megtervezése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926080" y="1874520"/>
            <a:ext cx="5852160" cy="777240"/>
          </a:xfrm>
          <a:prstGeom prst="rect">
            <a:avLst/>
          </a:prstGeom>
          <a:solidFill>
            <a:srgbClr val="242A4A"/>
          </a:solidFill>
          <a:ln w="12700">
            <a:solidFill>
              <a:srgbClr val="2C35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926080" y="1874520"/>
            <a:ext cx="73152" cy="777240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108960" y="19476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 Daily Stand-up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108960" y="2276856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8D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Napi 15 perces egyeztetés Discordon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926080" y="2788920"/>
            <a:ext cx="5852160" cy="777240"/>
          </a:xfrm>
          <a:prstGeom prst="rect">
            <a:avLst/>
          </a:prstGeom>
          <a:solidFill>
            <a:srgbClr val="242A4A"/>
          </a:solidFill>
          <a:ln w="12700">
            <a:solidFill>
              <a:srgbClr val="2C35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26080" y="2788920"/>
            <a:ext cx="73152" cy="777240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108960" y="2862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Sprint Review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3108960" y="3191256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8D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Heti eredmények bemutatása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926080" y="3703320"/>
            <a:ext cx="5852160" cy="777240"/>
          </a:xfrm>
          <a:prstGeom prst="rect">
            <a:avLst/>
          </a:prstGeom>
          <a:solidFill>
            <a:srgbClr val="242A4A"/>
          </a:solidFill>
          <a:ln w="12700">
            <a:solidFill>
              <a:srgbClr val="2C35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26080" y="3703320"/>
            <a:ext cx="73152" cy="777240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108960" y="37764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  Retrospective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3108960" y="4105656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8D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 csináltunk jól? Mit javítsunk?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3108960" y="4690872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F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2C3566"/>
          </a:solidFill>
          <a:ln w="12700">
            <a:solidFill>
              <a:srgbClr val="2C356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🧪  TESZTELÉSI FOLYAMAT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65760" y="960120"/>
            <a:ext cx="2286000" cy="2286000"/>
          </a:xfrm>
          <a:prstGeom prst="rect">
            <a:avLst/>
          </a:prstGeom>
          <a:solidFill>
            <a:srgbClr val="242A4A"/>
          </a:solidFill>
          <a:ln w="25400">
            <a:solidFill>
              <a:srgbClr val="22C55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1188720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hu-HU" sz="64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6400" dirty="0"/>
          </a:p>
        </p:txBody>
      </p:sp>
      <p:sp>
        <p:nvSpPr>
          <p:cNvPr id="7" name="Text 5"/>
          <p:cNvSpPr/>
          <p:nvPr/>
        </p:nvSpPr>
        <p:spPr>
          <a:xfrm>
            <a:off x="365760" y="20574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C8D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teszteset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237744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hu-HU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</a:t>
            </a:r>
            <a:r>
              <a:rPr lang="en-US" sz="18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 ✅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2926080" y="960120"/>
            <a:ext cx="3017520" cy="594360"/>
          </a:xfrm>
          <a:prstGeom prst="rect">
            <a:avLst/>
          </a:prstGeom>
          <a:solidFill>
            <a:srgbClr val="242A4A"/>
          </a:solidFill>
          <a:ln w="12700">
            <a:solidFill>
              <a:srgbClr val="2C356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63240" y="1024128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🔹  Unit teszt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063240" y="1289304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8D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Egyedi eszközök működése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926080" y="1645920"/>
            <a:ext cx="3017520" cy="594360"/>
          </a:xfrm>
          <a:prstGeom prst="rect">
            <a:avLst/>
          </a:prstGeom>
          <a:solidFill>
            <a:srgbClr val="242A4A"/>
          </a:solidFill>
          <a:ln w="12700">
            <a:solidFill>
              <a:srgbClr val="2C356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063240" y="1709928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🔸  Integrációs teszt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063240" y="1975104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8D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Részlegek közötti kommunikáció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926080" y="2331720"/>
            <a:ext cx="3017520" cy="594360"/>
          </a:xfrm>
          <a:prstGeom prst="rect">
            <a:avLst/>
          </a:prstGeom>
          <a:solidFill>
            <a:srgbClr val="242A4A"/>
          </a:solidFill>
          <a:ln w="12700">
            <a:solidFill>
              <a:srgbClr val="2C356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063240" y="2395728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🔶  Rendszer teszt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063240" y="2660904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8D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Teljes hálózat működése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926080" y="3017520"/>
            <a:ext cx="3017520" cy="594360"/>
          </a:xfrm>
          <a:prstGeom prst="rect">
            <a:avLst/>
          </a:prstGeom>
          <a:solidFill>
            <a:srgbClr val="242A4A"/>
          </a:solidFill>
          <a:ln w="12700">
            <a:solidFill>
              <a:srgbClr val="2C356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063240" y="3081528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🛡️  Biztonsági teszt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063240" y="3346704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8D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ACL szabályok, </a:t>
            </a:r>
            <a:r>
              <a:rPr lang="en-US" sz="1000" dirty="0" err="1">
                <a:solidFill>
                  <a:srgbClr val="C8D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tűzfal</a:t>
            </a:r>
            <a:r>
              <a:rPr lang="hu-HU" sz="1000" dirty="0">
                <a:solidFill>
                  <a:srgbClr val="C8D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ipv6, </a:t>
            </a:r>
            <a:r>
              <a:rPr lang="hu-HU" sz="1000" dirty="0" err="1">
                <a:solidFill>
                  <a:srgbClr val="C8D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vlan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126480" y="960120"/>
            <a:ext cx="2560320" cy="2743200"/>
          </a:xfrm>
          <a:prstGeom prst="rect">
            <a:avLst/>
          </a:prstGeom>
          <a:solidFill>
            <a:srgbClr val="242A4A"/>
          </a:solidFill>
          <a:ln w="12700">
            <a:solidFill>
              <a:srgbClr val="2C356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63640" y="105156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263640" y="146304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263640" y="1938528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263640" y="2414016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263640" y="2889504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48640" y="416052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pic>
        <p:nvPicPr>
          <p:cNvPr id="30" name="Kép 29">
            <a:extLst>
              <a:ext uri="{FF2B5EF4-FFF2-40B4-BE49-F238E27FC236}">
                <a16:creationId xmlns:a16="http://schemas.microsoft.com/office/drawing/2014/main" id="{1CAD7F62-A885-423E-81F7-2DA1A0DE46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79" y="978408"/>
            <a:ext cx="2582333" cy="272491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F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PROJEKT ÖSSZEGZÉS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097280"/>
            <a:ext cx="4023360" cy="1280160"/>
          </a:xfrm>
          <a:prstGeom prst="rect">
            <a:avLst/>
          </a:prstGeom>
          <a:solidFill>
            <a:srgbClr val="242A4A"/>
          </a:solidFill>
          <a:ln w="19050">
            <a:solidFill>
              <a:srgbClr val="4F8EF7"/>
            </a:solidFill>
            <a:prstDash val="solid"/>
          </a:ln>
          <a:effectLst>
            <a:outerShdw blurRad="1524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097280"/>
            <a:ext cx="4023360" cy="73152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261872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  Modern hálózat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1755648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8D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Cisco eszközök, 3 rétegű architektúra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754880" y="1097280"/>
            <a:ext cx="4023360" cy="1280160"/>
          </a:xfrm>
          <a:prstGeom prst="rect">
            <a:avLst/>
          </a:prstGeom>
          <a:solidFill>
            <a:srgbClr val="242A4A"/>
          </a:solidFill>
          <a:ln w="19050">
            <a:solidFill>
              <a:srgbClr val="4F8EF7"/>
            </a:solidFill>
            <a:prstDash val="solid"/>
          </a:ln>
          <a:effectLst>
            <a:outerShdw blurRad="1524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54880" y="1097280"/>
            <a:ext cx="4023360" cy="73152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37760" y="1261872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 Agilis módszer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937760" y="1755648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8D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sprint, Scrum + Jira + GitHub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65760" y="2560320"/>
            <a:ext cx="4023360" cy="1280160"/>
          </a:xfrm>
          <a:prstGeom prst="rect">
            <a:avLst/>
          </a:prstGeom>
          <a:solidFill>
            <a:srgbClr val="242A4A"/>
          </a:solidFill>
          <a:ln w="19050">
            <a:solidFill>
              <a:srgbClr val="4F8EF7"/>
            </a:solidFill>
            <a:prstDash val="solid"/>
          </a:ln>
          <a:effectLst>
            <a:outerShdw blurRad="1524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65760" y="2560320"/>
            <a:ext cx="4023360" cy="73152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2724912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100% teszt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48640" y="3218688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8D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 teszteset, teljes lefedettség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754880" y="2560320"/>
            <a:ext cx="4023360" cy="1280160"/>
          </a:xfrm>
          <a:prstGeom prst="rect">
            <a:avLst/>
          </a:prstGeom>
          <a:solidFill>
            <a:srgbClr val="242A4A"/>
          </a:solidFill>
          <a:ln w="19050">
            <a:solidFill>
              <a:srgbClr val="4F8EF7"/>
            </a:solidFill>
            <a:prstDash val="solid"/>
          </a:ln>
          <a:effectLst>
            <a:outerShdw blurRad="1524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54880" y="2560320"/>
            <a:ext cx="4023360" cy="73152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37760" y="2724912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📄  Dokumentáció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937760" y="3218688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8D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Részletes műszaki leírás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65760" y="4114800"/>
            <a:ext cx="8412480" cy="822960"/>
          </a:xfrm>
          <a:prstGeom prst="rect">
            <a:avLst/>
          </a:prstGeom>
          <a:solidFill>
            <a:srgbClr val="2C3566"/>
          </a:solidFill>
          <a:ln w="19050">
            <a:solidFill>
              <a:srgbClr val="4F8EF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" y="4169664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🙏  Köszönjük a figyelmet!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365760" y="461772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8D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Váradi Levente  &amp;  Nagy Dániel   •   Apáczai Csere János Szakgimnázium  •  2026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276</TotalTime>
  <Words>574</Words>
  <Application>Microsoft Office PowerPoint</Application>
  <PresentationFormat>Diavetítés a képernyőre (16:9 oldalarány)</PresentationFormat>
  <Paragraphs>153</Paragraphs>
  <Slides>14</Slides>
  <Notes>14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14</vt:i4>
      </vt:variant>
    </vt:vector>
  </HeadingPairs>
  <TitlesOfParts>
    <vt:vector size="18" baseType="lpstr">
      <vt:lpstr>Arial</vt:lpstr>
      <vt:lpstr>Calibri</vt:lpstr>
      <vt:lpstr>Calibri Light</vt:lpstr>
      <vt:lpstr>Office Theme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TechBolt Kft - Vizsgaremek</dc:title>
  <dc:subject>PptxGenJS Presentation</dc:subject>
  <dc:creator>PptxGenJS</dc:creator>
  <cp:lastModifiedBy>Dániel Nagy</cp:lastModifiedBy>
  <cp:revision>16</cp:revision>
  <dcterms:created xsi:type="dcterms:W3CDTF">2026-02-23T09:29:10Z</dcterms:created>
  <dcterms:modified xsi:type="dcterms:W3CDTF">2026-03-02T10:28:51Z</dcterms:modified>
</cp:coreProperties>
</file>