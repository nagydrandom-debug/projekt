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9" r:id="rId8"/>
    <p:sldId id="261" r:id="rId9"/>
    <p:sldId id="263" r:id="rId10"/>
    <p:sldId id="266" r:id="rId11"/>
    <p:sldId id="264" r:id="rId12"/>
    <p:sldId id="262" r:id="rId13"/>
    <p:sldId id="265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F35"/>
    <a:srgbClr val="242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24" autoAdjust="0"/>
  </p:normalViewPr>
  <p:slideViewPr>
    <p:cSldViewPr snapToGrid="0" snapToObjects="1">
      <p:cViewPr varScale="1">
        <p:scale>
          <a:sx n="97" d="100"/>
          <a:sy n="97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33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Good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afternoon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Dániel,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partner Levente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fictional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TechBolt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Kft.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partner Levente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Specialist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Network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he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router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OSPF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ACL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Dániel,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Manager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sprint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TechBolt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Kft.,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headquartered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Budapest.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over 60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7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IT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consulting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electronics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24/7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perfect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educationally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Cisco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three-layer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7 Cisco 2911 routers. The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6 Cisco 2960-24TT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Access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33 end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servers,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printers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spread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Management, HR,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top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Cisco ASA 5506-X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inbound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outbound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malicious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stateful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inspection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DMZ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NAT, and port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Windows Server,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services.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management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DHCP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DNS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and printer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software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0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Linux server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Apache2 web server,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 and HTTPS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backup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screenshot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Apache2 server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successfully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running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9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OSPF – Open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Shortest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shortest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link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reroutes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instantly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performance. DHCP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gateways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DNS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ACLs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Access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HR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payroll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management,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Jira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log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responsibilities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sprint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boards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breakdowns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screenshots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40%,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30%, testing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20%,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10%. The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22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7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3 servers.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version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GitHub.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conventions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test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methodology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week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week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Sprint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Daily,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15-minute stand-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meetings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Discord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 of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sprint,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Sprint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Retrospective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Unit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inter-department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System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ACL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IPv6,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 test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88%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modern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Cisco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three-layer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methodology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Jira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GitHub.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100% test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54 test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happy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91440" cy="2560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TECHBOLT KFT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 Project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Presentation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228600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  &amp;  Nagy Dániel   •   Apáczai Csere János Vocational School  •  Dombóvár  •  2024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7307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INTRODUCTION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05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Specialist  •  Network Architect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0267" y="28346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configuration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setup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&amp; ACL rules
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515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005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 Dániel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02920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 •  Tester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0" y="2697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plan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TECHBOLT KFT – THE CHOSEN COMPANY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65760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6304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9601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Headquarters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6459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6459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Employees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916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employees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23317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23317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377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Departments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0916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different departments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0" y="30175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30175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Activity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0916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consulting, electronics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0" y="37033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37033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Service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916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customer support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0" y="4480560"/>
            <a:ext cx="411480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7CB3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4526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market need + 7 departments = complex but educational project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PACKET TRACER – NETWORK TOPOLOGY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89120" y="914400"/>
            <a:ext cx="4389120" cy="3657600"/>
          </a:xfrm>
          <a:prstGeom prst="rect">
            <a:avLst/>
          </a:prstGeom>
          <a:solidFill>
            <a:srgbClr val="242A4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8056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</a:t>
            </a:r>
            <a:r>
              <a:rPr lang="en-US" sz="1000" i="1" dirty="0" err="1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Tacer</a:t>
            </a: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screenshot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96012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960120"/>
            <a:ext cx="9144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0058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CORE layer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307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hu-HU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 Cisco 2911 router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78308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1783080"/>
            <a:ext cx="9144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DISTRIBUTION layer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2130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hu-HU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 Cisco 2960-24TT switch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260604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606040"/>
            <a:ext cx="91440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6517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ACCESS layer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29535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hu-HU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 devices (PC, server, printer)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DEPARTMENTS: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3749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 •  HR  •  Finance  •  Customer 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 •  Warehouse  •  Server Room</a:t>
            </a:r>
            <a:endParaRPr lang="en-US" sz="1100" dirty="0"/>
          </a:p>
        </p:txBody>
      </p:sp>
      <p:pic>
        <p:nvPicPr>
          <p:cNvPr id="22" name="Kép 21">
            <a:extLst>
              <a:ext uri="{FF2B5EF4-FFF2-40B4-BE49-F238E27FC236}">
                <a16:creationId xmlns:a16="http://schemas.microsoft.com/office/drawing/2014/main" id="{FE3178A1-2138-415E-AE59-3297B51B9C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25" t="5916"/>
          <a:stretch/>
        </p:blipFill>
        <p:spPr>
          <a:xfrm>
            <a:off x="4645441" y="1850814"/>
            <a:ext cx="3844398" cy="16738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PROTOCOLS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905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– Cisco ASA 5506-X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inbound and outbound traffic, blocks malicious content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inspection – tracks every connection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4930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zone  •  NAT  •  Port forwarding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914400"/>
            <a:ext cx="3931920" cy="356616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  <a:effectLst>
            <a:outerShdw blurRad="1905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914400"/>
            <a:ext cx="3931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1500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02920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0" y="34930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4608576"/>
            <a:ext cx="8046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7" name="Kép 26">
            <a:extLst>
              <a:ext uri="{FF2B5EF4-FFF2-40B4-BE49-F238E27FC236}">
                <a16:creationId xmlns:a16="http://schemas.microsoft.com/office/drawing/2014/main" id="{9181BADB-1724-4418-9124-F86B4F001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22" y="1736074"/>
            <a:ext cx="1577378" cy="1867948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27B056B6-74FF-433B-984D-765B791D6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422" y="1736074"/>
            <a:ext cx="1407360" cy="1867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</a:t>
            </a:r>
            <a:r>
              <a:rPr lang="hu-H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65760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9601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51576" y="1155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</a:t>
            </a:r>
            <a:r>
              <a:rPr lang="hu-HU" sz="14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0916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6459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3" name="Shape 10"/>
          <p:cNvSpPr/>
          <p:nvPr/>
        </p:nvSpPr>
        <p:spPr>
          <a:xfrm>
            <a:off x="4572000" y="16459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25725" y="1819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23317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7" name="Shape 14"/>
          <p:cNvSpPr/>
          <p:nvPr/>
        </p:nvSpPr>
        <p:spPr>
          <a:xfrm>
            <a:off x="4572000" y="23317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09160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0916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0916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58078" y="248334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chemeClr val="bg1"/>
                </a:solidFill>
                <a:latin typeface="+mj-lt"/>
              </a:rPr>
              <a:t>DHCP</a:t>
            </a:r>
            <a:endParaRPr lang="en-US" sz="13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663440" y="4526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26278D47-7FF5-490D-83B8-C1C3A369B6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" b="6744"/>
          <a:stretch/>
        </p:blipFill>
        <p:spPr>
          <a:xfrm>
            <a:off x="511198" y="1907755"/>
            <a:ext cx="3493874" cy="1841285"/>
          </a:xfrm>
          <a:prstGeom prst="rect">
            <a:avLst/>
          </a:prstGeom>
        </p:spPr>
      </p:pic>
      <p:sp>
        <p:nvSpPr>
          <p:cNvPr id="30" name="Shape 13">
            <a:extLst>
              <a:ext uri="{FF2B5EF4-FFF2-40B4-BE49-F238E27FC236}">
                <a16:creationId xmlns:a16="http://schemas.microsoft.com/office/drawing/2014/main" id="{C2C452EA-EDB1-409A-9532-C1FC2FF63BEB}"/>
              </a:ext>
            </a:extLst>
          </p:cNvPr>
          <p:cNvSpPr/>
          <p:nvPr/>
        </p:nvSpPr>
        <p:spPr>
          <a:xfrm>
            <a:off x="4572000" y="3012149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273AD76D-4353-42A4-9B64-47A9BF936354}"/>
              </a:ext>
            </a:extLst>
          </p:cNvPr>
          <p:cNvSpPr/>
          <p:nvPr/>
        </p:nvSpPr>
        <p:spPr>
          <a:xfrm>
            <a:off x="4572000" y="3691128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FE7E742C-133C-4C72-A8F8-AA9EAB15D747}"/>
              </a:ext>
            </a:extLst>
          </p:cNvPr>
          <p:cNvSpPr/>
          <p:nvPr/>
        </p:nvSpPr>
        <p:spPr>
          <a:xfrm>
            <a:off x="4572000" y="4370107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B6B1E06E-8763-425A-8A18-C2968D1EFB05}"/>
              </a:ext>
            </a:extLst>
          </p:cNvPr>
          <p:cNvSpPr/>
          <p:nvPr/>
        </p:nvSpPr>
        <p:spPr>
          <a:xfrm>
            <a:off x="4567428" y="3012149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31616C5E-3E75-4A4C-A2E9-5FA0D517CB22}"/>
              </a:ext>
            </a:extLst>
          </p:cNvPr>
          <p:cNvSpPr/>
          <p:nvPr/>
        </p:nvSpPr>
        <p:spPr>
          <a:xfrm>
            <a:off x="4572000" y="3701627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0B20DE86-E762-46D9-B7F6-473D460382EF}"/>
              </a:ext>
            </a:extLst>
          </p:cNvPr>
          <p:cNvSpPr/>
          <p:nvPr/>
        </p:nvSpPr>
        <p:spPr>
          <a:xfrm>
            <a:off x="4572000" y="4378378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53F2C664-2939-44A2-B1DC-8B2AABA710EB}"/>
              </a:ext>
            </a:extLst>
          </p:cNvPr>
          <p:cNvSpPr txBox="1"/>
          <p:nvPr/>
        </p:nvSpPr>
        <p:spPr>
          <a:xfrm>
            <a:off x="6383178" y="3137951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>
                <a:solidFill>
                  <a:schemeClr val="bg1"/>
                </a:solidFill>
                <a:latin typeface="+mj-lt"/>
              </a:rPr>
              <a:t>DNS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32A60A98-803F-4C55-AAEB-DCC3C478B483}"/>
              </a:ext>
            </a:extLst>
          </p:cNvPr>
          <p:cNvSpPr txBox="1"/>
          <p:nvPr/>
        </p:nvSpPr>
        <p:spPr>
          <a:xfrm>
            <a:off x="5404156" y="3845851"/>
            <a:ext cx="2523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>
                <a:solidFill>
                  <a:schemeClr val="bg1"/>
                </a:solidFill>
                <a:latin typeface="+mj-lt"/>
              </a:rPr>
              <a:t>FILE AND PRINTER SHARING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5DBC8C3D-D732-433B-AB84-0944C5268E77}"/>
              </a:ext>
            </a:extLst>
          </p:cNvPr>
          <p:cNvSpPr txBox="1"/>
          <p:nvPr/>
        </p:nvSpPr>
        <p:spPr>
          <a:xfrm>
            <a:off x="5230326" y="4509542"/>
            <a:ext cx="2871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>
                <a:solidFill>
                  <a:schemeClr val="bg1"/>
                </a:solidFill>
                <a:latin typeface="+mj-lt"/>
              </a:rPr>
              <a:t>AUTOMATED SOFTWARE DEPLOYMENT</a:t>
            </a:r>
          </a:p>
        </p:txBody>
      </p:sp>
    </p:spTree>
    <p:extLst>
      <p:ext uri="{BB962C8B-B14F-4D97-AF65-F5344CB8AC3E}">
        <p14:creationId xmlns:p14="http://schemas.microsoft.com/office/powerpoint/2010/main" val="9531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</a:t>
            </a:r>
            <a:r>
              <a:rPr lang="hu-H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65760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9601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51576" y="1155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</a:t>
            </a:r>
            <a:r>
              <a:rPr lang="hu-HU" sz="14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0916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6459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3" name="Shape 10"/>
          <p:cNvSpPr/>
          <p:nvPr/>
        </p:nvSpPr>
        <p:spPr>
          <a:xfrm>
            <a:off x="4572000" y="16459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0" y="183218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 – APACHE2 WEB SERVER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23317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7" name="Shape 14"/>
          <p:cNvSpPr/>
          <p:nvPr/>
        </p:nvSpPr>
        <p:spPr>
          <a:xfrm>
            <a:off x="4572000" y="23317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377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0916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09160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0916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0916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62356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chemeClr val="bg1"/>
                </a:solidFill>
                <a:latin typeface="+mj-lt"/>
              </a:rPr>
              <a:t>AUTOMATED BACKUP</a:t>
            </a:r>
            <a:endParaRPr lang="en-US" sz="13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572000" y="4480560"/>
            <a:ext cx="411480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7CB3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4526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hu-HU" sz="1100" i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Apache2 server</a:t>
            </a:r>
            <a:endParaRPr lang="en-US" sz="1100" dirty="0"/>
          </a:p>
        </p:txBody>
      </p:sp>
      <p:pic>
        <p:nvPicPr>
          <p:cNvPr id="33" name="Kép 32">
            <a:extLst>
              <a:ext uri="{FF2B5EF4-FFF2-40B4-BE49-F238E27FC236}">
                <a16:creationId xmlns:a16="http://schemas.microsoft.com/office/drawing/2014/main" id="{187162FD-0A4C-41C8-BA58-A3DF208DC2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9" t="12886" r="16237" b="12887"/>
          <a:stretch/>
        </p:blipFill>
        <p:spPr>
          <a:xfrm>
            <a:off x="530352" y="1832187"/>
            <a:ext cx="3436393" cy="2130213"/>
          </a:xfrm>
          <a:prstGeom prst="rect">
            <a:avLst/>
          </a:prstGeom>
        </p:spPr>
      </p:pic>
      <p:pic>
        <p:nvPicPr>
          <p:cNvPr id="35" name="Kép 34">
            <a:extLst>
              <a:ext uri="{FF2B5EF4-FFF2-40B4-BE49-F238E27FC236}">
                <a16:creationId xmlns:a16="http://schemas.microsoft.com/office/drawing/2014/main" id="{FBE05668-9AF2-4B97-9985-EFFAD45B5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954" y="2963334"/>
            <a:ext cx="2616011" cy="147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94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 PROTOCOLS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1737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OSPF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Shortest Path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– automatically finds the shortest path. If a link goes down, a new route is found instantly!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7315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VLAN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– 1 physical network split into multiple virtual ones. Security ↑  •  Performance 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DHCP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Host Config Protocol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IP assignment – the server provides the IP, subnet mask, gateway, and DNS.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834640"/>
            <a:ext cx="73152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ACL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List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 – defining who can reach what. E.g. HR only has access to payroll!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6451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JIRA – PROJECT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4692"/>
            <a:ext cx="1920240" cy="411480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11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LOGGING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15359" y="946404"/>
            <a:ext cx="192024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5359" y="951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TRACKING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001268"/>
            <a:ext cx="1920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00812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3756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7220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44622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49" name="Kép 48">
            <a:extLst>
              <a:ext uri="{FF2B5EF4-FFF2-40B4-BE49-F238E27FC236}">
                <a16:creationId xmlns:a16="http://schemas.microsoft.com/office/drawing/2014/main" id="{4E1A70A1-F4B0-489D-8A55-772A4FFC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253" y="3255264"/>
            <a:ext cx="3288453" cy="15720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0" name="Kép 39">
            <a:extLst>
              <a:ext uri="{FF2B5EF4-FFF2-40B4-BE49-F238E27FC236}">
                <a16:creationId xmlns:a16="http://schemas.microsoft.com/office/drawing/2014/main" id="{7FAE4538-6FD2-439A-97A7-B31A0DE80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39" y="1716701"/>
            <a:ext cx="1874682" cy="13031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6" name="Kép 45">
            <a:extLst>
              <a:ext uri="{FF2B5EF4-FFF2-40B4-BE49-F238E27FC236}">
                <a16:creationId xmlns:a16="http://schemas.microsoft.com/office/drawing/2014/main" id="{3554BEA6-38C1-4E5D-B22A-E2D63F1EB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771" y="1701320"/>
            <a:ext cx="2465018" cy="13031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0" name="Kép 49">
            <a:extLst>
              <a:ext uri="{FF2B5EF4-FFF2-40B4-BE49-F238E27FC236}">
                <a16:creationId xmlns:a16="http://schemas.microsoft.com/office/drawing/2014/main" id="{45F52407-0AEE-4F48-868B-D432AB8EA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1842" y="1602176"/>
            <a:ext cx="1812556" cy="1916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PROJECT STATISTICS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distribution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1645920" cy="475488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Implementation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38528"/>
            <a:ext cx="1234440" cy="47548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Planning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05456"/>
            <a:ext cx="822960" cy="47548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968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Testing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72384"/>
            <a:ext cx="411480" cy="47548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63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Documentation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Device distribution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r>
              <a:rPr lang="en-US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 –  </a:t>
            </a:r>
            <a:r>
              <a:rPr lang="hu-HU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37160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580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 –  </a:t>
            </a:r>
            <a:r>
              <a:rPr lang="hu-HU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548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 –  </a:t>
            </a:r>
            <a:r>
              <a:rPr lang="hu-HU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265176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29" name="Text 27"/>
          <p:cNvSpPr/>
          <p:nvPr/>
        </p:nvSpPr>
        <p:spPr>
          <a:xfrm>
            <a:off x="685800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–  3 db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5354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 &amp; GITHUB – VERSION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9601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033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Branch strategy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0" y="1380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feature branches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8745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745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947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Commit convention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0" y="2295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commit messages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7889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27889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862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Pull Request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32095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before every merge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3749040"/>
            <a:ext cx="41148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7CB3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Stored contents: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4069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.pkt files  •  Configurations  •  Documentation  •  Tests  •  Presentation</a:t>
            </a:r>
            <a:endParaRPr lang="en-US" sz="1000" dirty="0"/>
          </a:p>
        </p:txBody>
      </p:sp>
      <p:pic>
        <p:nvPicPr>
          <p:cNvPr id="24" name="Kép 23">
            <a:extLst>
              <a:ext uri="{FF2B5EF4-FFF2-40B4-BE49-F238E27FC236}">
                <a16:creationId xmlns:a16="http://schemas.microsoft.com/office/drawing/2014/main" id="{1E2F977F-8D01-4067-8E0E-F7CD11448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15179"/>
            <a:ext cx="3132972" cy="28767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SCRUM METHODOLOGY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sprints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9601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9601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033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Sprint Planning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13624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weekly tasks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18745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18745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947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Daily Stand-up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22768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15-minute sync on Discord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27889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7889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2862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Sprint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31912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weekly results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37033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033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776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Retrospective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08960" y="4105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do well? What can we improve?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46908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TESTING PROCESS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286000" cy="2286000"/>
          </a:xfrm>
          <a:prstGeom prst="rect">
            <a:avLst/>
          </a:prstGeom>
          <a:solidFill>
            <a:srgbClr val="24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6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6080" y="9601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024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Unit test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12893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device functionality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6459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 Integration 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19751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Inter-department communication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3317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System 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26609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operation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30175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63240" y="33467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rules, </a:t>
            </a:r>
            <a:r>
              <a:rPr lang="en-US" sz="1000" dirty="0" err="1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r>
              <a:rPr lang="hu-HU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ipv6, </a:t>
            </a:r>
            <a:r>
              <a:rPr lang="hu-HU" sz="1000" dirty="0" err="1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560320" cy="274320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9385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4140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8895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30" name="Kép 29">
            <a:extLst>
              <a:ext uri="{FF2B5EF4-FFF2-40B4-BE49-F238E27FC236}">
                <a16:creationId xmlns:a16="http://schemas.microsoft.com/office/drawing/2014/main" id="{1CAD7F62-A885-423E-81F7-2DA1A0DE4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978408"/>
            <a:ext cx="2582333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Modern network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devices, 3-layer 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61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Agile 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sprints, Scrum + Jira + GitHub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24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test coverage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hu-HU" sz="120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r>
              <a:rPr lang="en-US" sz="120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full coverage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24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documentation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2C356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966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 for your attention!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  &amp;  Nagy Dániel   •   Apáczai Csere János Vocational School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1455</Words>
  <Application>Microsoft Office PowerPoint</Application>
  <PresentationFormat>Diavetítés a képernyőre (16:9 oldalarány)</PresentationFormat>
  <Paragraphs>165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TechBolt Kft - Vizsgaremek</dc:title>
  <dc:subject>PptxGenJS Presentation</dc:subject>
  <dc:creator>PptxGenJS</dc:creator>
  <cp:lastModifiedBy>Dániel Nagy</cp:lastModifiedBy>
  <cp:revision>16</cp:revision>
  <dcterms:created xsi:type="dcterms:W3CDTF">2026-02-23T09:29:10Z</dcterms:created>
  <dcterms:modified xsi:type="dcterms:W3CDTF">2026-03-04T07:13:43Z</dcterms:modified>
</cp:coreProperties>
</file>